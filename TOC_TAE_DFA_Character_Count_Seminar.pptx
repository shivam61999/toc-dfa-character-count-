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a:spAutoFit/>
          </a:bodyPr>
          <a:lstStyle/>
          <a:p>
            <a:pPr algn="ctr">
              <a:defRPr sz="1700" b="1">
                <a:solidFill>
                  <a:srgbClr val="0F172A"/>
                </a:solidFill>
                <a:latin typeface="Arial"/>
              </a:defRPr>
            </a:pPr>
            <a:r>
              <a:t>S. B. JAIN INSTITUTE OF TECHNOLOGY, MANAGEMENT &amp; RESEARCH, NAGPUR</a:t>
            </a:r>
          </a:p>
          <a:p>
            <a:pPr algn="ctr">
              <a:defRPr sz="1000">
                <a:solidFill>
                  <a:srgbClr val="64748B"/>
                </a:solidFill>
                <a:latin typeface="Arial"/>
              </a:defRPr>
            </a:pPr>
            <a:r>
              <a:t>(An Autonomous Institute, Affiliated to R.T.M. Nagpur University)</a:t>
            </a:r>
            <a:br/>
            <a:r>
              <a:t>DEPARTMENT OF EMERGING TECHNOLOGIES CSE (AI&amp;ML)</a:t>
            </a:r>
            <a:br/>
            <a:r>
              <a:t>"Become an excellent center for Emerging Technologies in Computer Science to create competent professionals"</a:t>
            </a:r>
          </a:p>
        </p:txBody>
      </p:sp>
      <p:sp>
        <p:nvSpPr>
          <p:cNvPr id="3" name="Rectangle 2"/>
          <p:cNvSpPr/>
          <p:nvPr/>
        </p:nvSpPr>
        <p:spPr>
          <a:xfrm>
            <a:off x="1097280" y="1691640"/>
            <a:ext cx="9966960" cy="27432"/>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10698480" cy="2011680"/>
          </a:xfrm>
          <a:prstGeom prst="rect">
            <a:avLst/>
          </a:prstGeom>
          <a:noFill/>
        </p:spPr>
        <p:txBody>
          <a:bodyPr wrap="square">
            <a:spAutoFit/>
          </a:bodyPr>
          <a:lstStyle/>
          <a:p>
            <a:pPr algn="ctr">
              <a:defRPr sz="1500">
                <a:solidFill>
                  <a:srgbClr val="0284C7"/>
                </a:solidFill>
                <a:latin typeface="Arial"/>
              </a:defRPr>
            </a:pPr>
            <a:r>
              <a:t>TAE-II Seminar on</a:t>
            </a:r>
          </a:p>
          <a:p>
            <a:pPr algn="ctr">
              <a:defRPr sz="2400" b="1">
                <a:solidFill>
                  <a:srgbClr val="0F172A"/>
                </a:solidFill>
                <a:latin typeface="Arial"/>
              </a:defRPr>
            </a:pPr>
            <a:r>
              <a:t>“Exact Character Count Deterministic Finite Automaton:</a:t>
            </a:r>
            <a:br/>
            <a:r>
              <a:t>|w|ₐ = 3m and |w|_b = 2n Validator”</a:t>
            </a:r>
          </a:p>
          <a:p>
            <a:pPr algn="ctr">
              <a:defRPr sz="1300" i="1">
                <a:solidFill>
                  <a:srgbClr val="4F46E5"/>
                </a:solidFill>
                <a:latin typeface="Arial"/>
              </a:defRPr>
            </a:pPr>
            <a:r>
              <a:t>under the course: Theory of Computation (N-PCCCM503T)</a:t>
            </a:r>
          </a:p>
        </p:txBody>
      </p:sp>
      <p:sp>
        <p:nvSpPr>
          <p:cNvPr id="5" name="TextBox 4"/>
          <p:cNvSpPr txBox="1"/>
          <p:nvPr/>
        </p:nvSpPr>
        <p:spPr>
          <a:xfrm>
            <a:off x="731520" y="4389120"/>
            <a:ext cx="10698480" cy="1645920"/>
          </a:xfrm>
          <a:prstGeom prst="rect">
            <a:avLst/>
          </a:prstGeom>
          <a:noFill/>
        </p:spPr>
        <p:txBody>
          <a:bodyPr wrap="square">
            <a:spAutoFit/>
          </a:bodyPr>
          <a:lstStyle/>
          <a:p>
            <a:pPr algn="ctr">
              <a:defRPr sz="1300" b="1">
                <a:solidFill>
                  <a:srgbClr val="1E293B"/>
                </a:solidFill>
                <a:latin typeface="Arial"/>
              </a:defRPr>
            </a:pPr>
            <a:r>
              <a:t>Presented By: Shivam (shivam61999)                  Under the Guidance of: Prof. Rahul Bambodkar</a:t>
            </a:r>
          </a:p>
          <a:p>
            <a:pPr algn="ctr">
              <a:defRPr sz="1100">
                <a:solidFill>
                  <a:srgbClr val="64748B"/>
                </a:solidFill>
                <a:latin typeface="Arial"/>
              </a:defRPr>
            </a:pPr>
            <a:r>
              <a:t>5th Sem, Session: 2026-27 (ODD)</a:t>
            </a:r>
            <a:br/>
            <a:r>
              <a:t>Department of Emerging Technologies (AI&amp;ML)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tIns="0" bIns="0" lIns="0" rIns="0">
            <a:spAutoFit/>
          </a:bodyPr>
          <a:lstStyle/>
          <a:p>
            <a:pPr>
              <a:defRPr sz="2200" b="1">
                <a:solidFill>
                  <a:srgbClr val="0F172A"/>
                </a:solidFill>
                <a:latin typeface="Arial"/>
              </a:defRPr>
            </a:pPr>
            <a:r>
              <a:t>INDEX</a:t>
            </a:r>
          </a:p>
        </p:txBody>
      </p:sp>
      <p:sp>
        <p:nvSpPr>
          <p:cNvPr id="3" name="Rectangle 2"/>
          <p:cNvSpPr/>
          <p:nvPr/>
        </p:nvSpPr>
        <p:spPr>
          <a:xfrm>
            <a:off x="731520" y="1188720"/>
            <a:ext cx="10698480" cy="36576"/>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65760"/>
          </a:xfrm>
          <a:prstGeom prst="rect">
            <a:avLst/>
          </a:prstGeom>
          <a:noFill/>
        </p:spPr>
        <p:txBody>
          <a:bodyPr wrap="none" tIns="0" bIns="0" lIns="0" rIns="0">
            <a:spAutoFit/>
          </a:bodyPr>
          <a:lstStyle/>
          <a:p>
            <a:pPr>
              <a:defRPr sz="900">
                <a:solidFill>
                  <a:srgbClr val="64748B"/>
                </a:solidFill>
                <a:latin typeface="Arial"/>
              </a:defRPr>
            </a:pPr>
            <a:r>
              <a:t>S. B. Jain Institute of Technology, Management &amp; Research, Nagpur | Department of Emerging Technologies CSE (AI&amp;ML)</a:t>
            </a:r>
          </a:p>
        </p:txBody>
      </p:sp>
      <p:sp>
        <p:nvSpPr>
          <p:cNvPr id="5" name="TextBox 4"/>
          <p:cNvSpPr txBox="1"/>
          <p:nvPr/>
        </p:nvSpPr>
        <p:spPr>
          <a:xfrm>
            <a:off x="1371600" y="1645920"/>
            <a:ext cx="9418320" cy="4389120"/>
          </a:xfrm>
          <a:prstGeom prst="rect">
            <a:avLst/>
          </a:prstGeom>
          <a:noFill/>
        </p:spPr>
        <p:txBody>
          <a:bodyPr wrap="square">
            <a:spAutoFit/>
          </a:bodyPr>
          <a:lstStyle/>
          <a:p>
            <a:pPr>
              <a:spcAft>
                <a:spcPts val="1000"/>
              </a:spcAft>
              <a:defRPr sz="1500" b="1">
                <a:solidFill>
                  <a:srgbClr val="1E293B"/>
                </a:solidFill>
                <a:latin typeface="Arial"/>
              </a:defRPr>
            </a:pPr>
            <a:r>
              <a:t>1.  Problem Statement</a:t>
            </a:r>
          </a:p>
          <a:p>
            <a:pPr>
              <a:spcAft>
                <a:spcPts val="1000"/>
              </a:spcAft>
              <a:defRPr sz="1500" b="1">
                <a:solidFill>
                  <a:srgbClr val="1E293B"/>
                </a:solidFill>
                <a:latin typeface="Arial"/>
              </a:defRPr>
            </a:pPr>
            <a:r>
              <a:t>2.  Theoretical Context</a:t>
            </a:r>
          </a:p>
          <a:p>
            <a:pPr>
              <a:spcAft>
                <a:spcPts val="1000"/>
              </a:spcAft>
              <a:defRPr sz="1500" b="1">
                <a:solidFill>
                  <a:srgbClr val="1E293B"/>
                </a:solidFill>
                <a:latin typeface="Arial"/>
              </a:defRPr>
            </a:pPr>
            <a:r>
              <a:t>3.  Formal Mathematical Definition</a:t>
            </a:r>
          </a:p>
          <a:p>
            <a:pPr>
              <a:spcAft>
                <a:spcPts val="1000"/>
              </a:spcAft>
              <a:defRPr sz="1500" b="1">
                <a:solidFill>
                  <a:srgbClr val="1E293B"/>
                </a:solidFill>
                <a:latin typeface="Arial"/>
              </a:defRPr>
            </a:pPr>
            <a:r>
              <a:t>4.  Automaton / Model Design / Logic Breakdown</a:t>
            </a:r>
          </a:p>
          <a:p>
            <a:pPr>
              <a:spcAft>
                <a:spcPts val="1000"/>
              </a:spcAft>
              <a:defRPr sz="1500" b="1">
                <a:solidFill>
                  <a:srgbClr val="1E293B"/>
                </a:solidFill>
                <a:latin typeface="Arial"/>
              </a:defRPr>
            </a:pPr>
            <a:r>
              <a:t>5.  Complexity &amp; Closure Properties</a:t>
            </a:r>
          </a:p>
          <a:p>
            <a:pPr>
              <a:spcAft>
                <a:spcPts val="1000"/>
              </a:spcAft>
              <a:defRPr sz="1500" b="1">
                <a:solidFill>
                  <a:srgbClr val="1E293B"/>
                </a:solidFill>
                <a:latin typeface="Arial"/>
              </a:defRPr>
            </a:pPr>
            <a:r>
              <a:t>6.  Real-World CSE Applications</a:t>
            </a:r>
          </a:p>
          <a:p>
            <a:pPr>
              <a:spcAft>
                <a:spcPts val="1000"/>
              </a:spcAft>
              <a:defRPr sz="1500" b="1">
                <a:solidFill>
                  <a:srgbClr val="1E293B"/>
                </a:solidFill>
                <a:latin typeface="Arial"/>
              </a:defRPr>
            </a:pPr>
            <a:r>
              <a:t>7.  Comparative Analysis</a:t>
            </a:r>
          </a:p>
          <a:p>
            <a:pPr>
              <a:spcAft>
                <a:spcPts val="1000"/>
              </a:spcAft>
              <a:defRPr sz="1500" b="1">
                <a:solidFill>
                  <a:srgbClr val="1E293B"/>
                </a:solidFill>
                <a:latin typeface="Arial"/>
              </a:defRPr>
            </a:pPr>
            <a:r>
              <a:t>8.  Conclusion &amp; Key Takeaways</a:t>
            </a:r>
          </a:p>
          <a:p>
            <a:pPr>
              <a:spcAft>
                <a:spcPts val="1000"/>
              </a:spcAft>
              <a:defRPr sz="1500" b="1">
                <a:solidFill>
                  <a:srgbClr val="1E293B"/>
                </a:solidFill>
                <a:latin typeface="Arial"/>
              </a:defRPr>
            </a:pPr>
            <a:r>
              <a:t>9.  References &amp; Project Artifacts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tIns="0" bIns="0" lIns="0" rIns="0">
            <a:spAutoFit/>
          </a:bodyPr>
          <a:lstStyle/>
          <a:p>
            <a:pPr>
              <a:defRPr sz="2200" b="1">
                <a:solidFill>
                  <a:srgbClr val="0F172A"/>
                </a:solidFill>
                <a:latin typeface="Arial"/>
              </a:defRPr>
            </a:pPr>
            <a:r>
              <a:t>1. Problem Statement</a:t>
            </a:r>
          </a:p>
        </p:txBody>
      </p:sp>
      <p:sp>
        <p:nvSpPr>
          <p:cNvPr id="3" name="Rectangle 2"/>
          <p:cNvSpPr/>
          <p:nvPr/>
        </p:nvSpPr>
        <p:spPr>
          <a:xfrm>
            <a:off x="731520" y="1188720"/>
            <a:ext cx="10698480" cy="36576"/>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65760"/>
          </a:xfrm>
          <a:prstGeom prst="rect">
            <a:avLst/>
          </a:prstGeom>
          <a:noFill/>
        </p:spPr>
        <p:txBody>
          <a:bodyPr wrap="none" tIns="0" bIns="0" lIns="0" rIns="0">
            <a:spAutoFit/>
          </a:bodyPr>
          <a:lstStyle/>
          <a:p>
            <a:pPr>
              <a:defRPr sz="900">
                <a:solidFill>
                  <a:srgbClr val="64748B"/>
                </a:solidFill>
                <a:latin typeface="Arial"/>
              </a:defRPr>
            </a:pPr>
            <a:r>
              <a:t>S. B. Jain Institute of Technology, Management &amp; Research, Nagpur | Department of Emerging Technologies CSE (AI&amp;ML)</a:t>
            </a:r>
          </a:p>
        </p:txBody>
      </p:sp>
      <p:sp>
        <p:nvSpPr>
          <p:cNvPr id="5" name="TextBox 4"/>
          <p:cNvSpPr txBox="1"/>
          <p:nvPr/>
        </p:nvSpPr>
        <p:spPr>
          <a:xfrm>
            <a:off x="731520" y="1463040"/>
            <a:ext cx="10698480" cy="4754880"/>
          </a:xfrm>
          <a:prstGeom prst="rect">
            <a:avLst/>
          </a:prstGeom>
          <a:noFill/>
        </p:spPr>
        <p:txBody>
          <a:bodyPr wrap="square">
            <a:spAutoFit/>
          </a:bodyPr>
          <a:lstStyle/>
          <a:p>
            <a:pPr>
              <a:defRPr b="1" sz="1500">
                <a:solidFill>
                  <a:srgbClr val="4F46E5"/>
                </a:solidFill>
              </a:defRPr>
            </a:pPr>
            <a:r>
              <a:t>Exact Character Count DFA Validator:</a:t>
            </a:r>
          </a:p>
          <a:p>
            <a:pPr>
              <a:spcAft>
                <a:spcPts val="800"/>
              </a:spcAft>
              <a:defRPr sz="1200">
                <a:solidFill>
                  <a:srgbClr val="1E293B"/>
                </a:solidFill>
              </a:defRPr>
            </a:pPr>
            <a:r>
              <a:t>The project addresses the fundamental automata theory challenge of constructing a Deterministic Finite Automaton (DFA) that validates whether an arbitrary input string w over alphabet Σ = {a, b} contains exactly 3m 'a's and 2n 'b's for non-negative integers m, n ≥ 0.</a:t>
            </a:r>
          </a:p>
          <a:p>
            <a:pPr>
              <a:defRPr b="1" sz="1300">
                <a:solidFill>
                  <a:srgbClr val="0F172A"/>
                </a:solidFill>
              </a:defRPr>
            </a:pPr>
            <a:r>
              <a:t>Problem Formulation &amp; Requirements:</a:t>
            </a:r>
          </a:p>
          <a:p>
            <a:pPr>
              <a:spcAft>
                <a:spcPts val="400"/>
              </a:spcAft>
              <a:defRPr sz="1150">
                <a:solidFill>
                  <a:srgbClr val="1E293B"/>
                </a:solidFill>
              </a:defRPr>
            </a:pPr>
            <a:r>
              <a:t>• Modulo Arithmetic Constraint: The language requires Nₐ(w) ≡ 0 (mod 3) and Nb(w) ≡ 0 (mod 2) simultaneously.</a:t>
            </a:r>
          </a:p>
          <a:p>
            <a:pPr>
              <a:spcAft>
                <a:spcPts val="400"/>
              </a:spcAft>
              <a:defRPr sz="1150">
                <a:solidFill>
                  <a:srgbClr val="1E293B"/>
                </a:solidFill>
              </a:defRPr>
            </a:pPr>
            <a:r>
              <a:t>• Cartesian State Space: Requires a minimal 6-state product automaton Q = {q₀,₀, q₁,₀, q₂,₀, q₀,₁, q₁,₁, q₂,₁}.</a:t>
            </a:r>
          </a:p>
          <a:p>
            <a:pPr>
              <a:spcAft>
                <a:spcPts val="400"/>
              </a:spcAft>
              <a:defRPr sz="1150">
                <a:solidFill>
                  <a:srgbClr val="1E293B"/>
                </a:solidFill>
              </a:defRPr>
            </a:pPr>
            <a:r>
              <a:t>• Empty String (ε) Acceptance: When m=0, n=0, Nₐ=0 (3×0) and Nb=0 (2×0). The initial state q₀,₀ must be an accepting state.</a:t>
            </a:r>
          </a:p>
          <a:p>
            <a:pPr>
              <a:spcAft>
                <a:spcPts val="400"/>
              </a:spcAft>
              <a:defRPr sz="1150">
                <a:solidFill>
                  <a:srgbClr val="1E293B"/>
                </a:solidFill>
              </a:defRPr>
            </a:pPr>
            <a:r>
              <a:t>• Order Invariance: Modular addition is abelian (commutative); the machine must accept permutations (aaabb, bbaaa, ababa).</a:t>
            </a:r>
          </a:p>
          <a:p>
            <a:pPr>
              <a:spcAft>
                <a:spcPts val="400"/>
              </a:spcAft>
              <a:defRPr sz="1150">
                <a:solidFill>
                  <a:srgbClr val="1E293B"/>
                </a:solidFill>
              </a:defRPr>
            </a:pPr>
            <a:r>
              <a:t>• Robust Alphabet Checking: Any symbol σ ∉ {a, b} must divert to an explicit dead/trap state (q_trap).</a:t>
            </a:r>
          </a:p>
          <a:p>
            <a:pPr>
              <a:spcAft>
                <a:spcPts val="400"/>
              </a:spcAft>
              <a:defRPr sz="1150">
                <a:solidFill>
                  <a:srgbClr val="1E293B"/>
                </a:solidFill>
              </a:defRPr>
            </a:pPr>
            <a:r>
              <a:t>• Verification &amp; Traceability: Provide real-time tape simulation, state animations, Instantaneous Descriptions (IDs), and automated test suites.</a:t>
            </a:r>
          </a:p>
          <a:p>
            <a:pPr>
              <a:spcBef>
                <a:spcPts val="800"/>
              </a:spcBef>
              <a:defRPr b="1" sz="1200">
                <a:solidFill>
                  <a:srgbClr val="4F46E5"/>
                </a:solidFill>
              </a:defRPr>
            </a:pPr>
            <a:r>
              <a:t>Project Pipeline:</a:t>
            </a:r>
          </a:p>
          <a:p>
            <a:pPr>
              <a:defRPr b="1" sz="1100">
                <a:solidFill>
                  <a:srgbClr val="0F172A"/>
                </a:solidFill>
              </a:defRPr>
            </a:pPr>
            <a:r>
              <a:t>Input String w  ⟶  Lexical Sanitizer  ⟶  DFA State Transitions δ  ⟶  Modulo Invariant Evaluation  ⟶  Verdict (ACCEPTED / REJECTED)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tIns="0" bIns="0" lIns="0" rIns="0">
            <a:spAutoFit/>
          </a:bodyPr>
          <a:lstStyle/>
          <a:p>
            <a:pPr>
              <a:defRPr sz="2200" b="1">
                <a:solidFill>
                  <a:srgbClr val="0F172A"/>
                </a:solidFill>
                <a:latin typeface="Arial"/>
              </a:defRPr>
            </a:pPr>
            <a:r>
              <a:t>2. Theoretical Context</a:t>
            </a:r>
          </a:p>
        </p:txBody>
      </p:sp>
      <p:sp>
        <p:nvSpPr>
          <p:cNvPr id="3" name="Rectangle 2"/>
          <p:cNvSpPr/>
          <p:nvPr/>
        </p:nvSpPr>
        <p:spPr>
          <a:xfrm>
            <a:off x="731520" y="1188720"/>
            <a:ext cx="10698480" cy="36576"/>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65760"/>
          </a:xfrm>
          <a:prstGeom prst="rect">
            <a:avLst/>
          </a:prstGeom>
          <a:noFill/>
        </p:spPr>
        <p:txBody>
          <a:bodyPr wrap="none" tIns="0" bIns="0" lIns="0" rIns="0">
            <a:spAutoFit/>
          </a:bodyPr>
          <a:lstStyle/>
          <a:p>
            <a:pPr>
              <a:defRPr sz="900">
                <a:solidFill>
                  <a:srgbClr val="64748B"/>
                </a:solidFill>
                <a:latin typeface="Arial"/>
              </a:defRPr>
            </a:pPr>
            <a:r>
              <a:t>S. B. Jain Institute of Technology, Management &amp; Research, Nagpur | Department of Emerging Technologies CSE (AI&amp;ML)</a:t>
            </a:r>
          </a:p>
        </p:txBody>
      </p:sp>
      <p:sp>
        <p:nvSpPr>
          <p:cNvPr id="5" name="TextBox 4"/>
          <p:cNvSpPr txBox="1"/>
          <p:nvPr/>
        </p:nvSpPr>
        <p:spPr>
          <a:xfrm>
            <a:off x="731520" y="1463040"/>
            <a:ext cx="10698480" cy="4754880"/>
          </a:xfrm>
          <a:prstGeom prst="rect">
            <a:avLst/>
          </a:prstGeom>
          <a:noFill/>
        </p:spPr>
        <p:txBody>
          <a:bodyPr wrap="square">
            <a:spAutoFit/>
          </a:bodyPr>
          <a:lstStyle/>
          <a:p>
            <a:pPr>
              <a:defRPr b="1" sz="1400">
                <a:solidFill>
                  <a:srgbClr val="4F46E5"/>
                </a:solidFill>
              </a:defRPr>
            </a:pPr>
            <a:r>
              <a:t>Modular Counting Languages in Automata Theory:</a:t>
            </a:r>
          </a:p>
          <a:p>
            <a:pPr>
              <a:defRPr sz="1200">
                <a:solidFill>
                  <a:srgbClr val="1E293B"/>
                </a:solidFill>
              </a:defRPr>
            </a:pPr>
            <a:r>
              <a:t>Finite automata have strictly finite memory. They cannot count unbounded numbers, but they can perfectly track modular equivalence residues (congruence classes). The language L is defined as:</a:t>
            </a:r>
          </a:p>
          <a:p>
            <a:pPr>
              <a:spcAft>
                <a:spcPts val="800"/>
              </a:spcAft>
              <a:defRPr b="1" sz="1300">
                <a:solidFill>
                  <a:srgbClr val="0F172A"/>
                </a:solidFill>
              </a:defRPr>
            </a:pPr>
            <a:r>
              <a:t>                    L = { w ∈ {a, b}* | Nₐ(w) ≡ 0 (mod 3)  ∧  Nb(w) ≡ 0 (mod 2) }</a:t>
            </a:r>
          </a:p>
          <a:p>
            <a:pPr>
              <a:defRPr b="1" sz="1300">
                <a:solidFill>
                  <a:srgbClr val="4F46E5"/>
                </a:solidFill>
              </a:defRPr>
            </a:pPr>
            <a:r>
              <a:t>Cartesian Product Automaton Construction (M = M₁ × M₂):</a:t>
            </a:r>
          </a:p>
          <a:p>
            <a:pPr>
              <a:spcAft>
                <a:spcPts val="800"/>
              </a:spcAft>
              <a:defRPr sz="1200">
                <a:solidFill>
                  <a:srgbClr val="1E293B"/>
                </a:solidFill>
              </a:defRPr>
            </a:pPr>
            <a:r>
              <a:t>By the closure properties of Regular Languages under intersection, L is the intersection of two simpler regular languages:</a:t>
            </a:r>
            <a:br/>
            <a:r>
              <a:t>    • L₁ = { w | Nₐ(w) ≡ 0 (mod 3) } recognized by 3-state machine M₁ (states representing remainders 0, 1, 2).</a:t>
            </a:r>
            <a:br/>
            <a:r>
              <a:t>    • L₂ = { w | Nb(w) ≡ 0 (mod 2) } recognized by 2-state machine M₂ (states representing even and odd).</a:t>
            </a:r>
            <a:br/>
            <a:r>
              <a:t>    • The composite machine M = M₁ × M₂ recognizes L = L₁ ∩ L₂ with |Q₁| × |Q₂| = 3 × 2 = 6 states.</a:t>
            </a:r>
          </a:p>
          <a:p>
            <a:pPr>
              <a:defRPr b="1" sz="1300">
                <a:solidFill>
                  <a:srgbClr val="4F46E5"/>
                </a:solidFill>
              </a:defRPr>
            </a:pPr>
            <a:r>
              <a:t>Why a DFA over NFA?</a:t>
            </a:r>
          </a:p>
          <a:p>
            <a:pPr>
              <a:defRPr sz="1200">
                <a:solidFill>
                  <a:srgbClr val="1E293B"/>
                </a:solidFill>
              </a:defRPr>
            </a:pPr>
            <a:r>
              <a:t>Unlike languages requiring non-deterministic guessing (e.g., sub-string searching), modular arithmetic is purely deterministic. Every symbol read unambiguously increments its respective counter modulo k. A DFA provides optimal O(n) runtime with deterministic predictability and zero branch backtracking.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tIns="0" bIns="0" lIns="0" rIns="0">
            <a:spAutoFit/>
          </a:bodyPr>
          <a:lstStyle/>
          <a:p>
            <a:pPr>
              <a:defRPr sz="2200" b="1">
                <a:solidFill>
                  <a:srgbClr val="0F172A"/>
                </a:solidFill>
                <a:latin typeface="Arial"/>
              </a:defRPr>
            </a:pPr>
            <a:r>
              <a:t>3. Formal Mathematical Definition</a:t>
            </a:r>
          </a:p>
        </p:txBody>
      </p:sp>
      <p:sp>
        <p:nvSpPr>
          <p:cNvPr id="3" name="Rectangle 2"/>
          <p:cNvSpPr/>
          <p:nvPr/>
        </p:nvSpPr>
        <p:spPr>
          <a:xfrm>
            <a:off x="731520" y="1188720"/>
            <a:ext cx="10698480" cy="36576"/>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65760"/>
          </a:xfrm>
          <a:prstGeom prst="rect">
            <a:avLst/>
          </a:prstGeom>
          <a:noFill/>
        </p:spPr>
        <p:txBody>
          <a:bodyPr wrap="none" tIns="0" bIns="0" lIns="0" rIns="0">
            <a:spAutoFit/>
          </a:bodyPr>
          <a:lstStyle/>
          <a:p>
            <a:pPr>
              <a:defRPr sz="900">
                <a:solidFill>
                  <a:srgbClr val="64748B"/>
                </a:solidFill>
                <a:latin typeface="Arial"/>
              </a:defRPr>
            </a:pPr>
            <a:r>
              <a:t>S. B. Jain Institute of Technology, Management &amp; Research, Nagpur | Department of Emerging Technologies CSE (AI&amp;ML)</a:t>
            </a:r>
          </a:p>
        </p:txBody>
      </p:sp>
      <p:sp>
        <p:nvSpPr>
          <p:cNvPr id="5" name="TextBox 4"/>
          <p:cNvSpPr txBox="1"/>
          <p:nvPr/>
        </p:nvSpPr>
        <p:spPr>
          <a:xfrm>
            <a:off x="731520" y="1371600"/>
            <a:ext cx="5303520" cy="4754880"/>
          </a:xfrm>
          <a:prstGeom prst="rect">
            <a:avLst/>
          </a:prstGeom>
          <a:noFill/>
        </p:spPr>
        <p:txBody>
          <a:bodyPr wrap="square">
            <a:spAutoFit/>
          </a:bodyPr>
          <a:lstStyle/>
          <a:p>
            <a:pPr>
              <a:defRPr b="1" sz="1400">
                <a:solidFill>
                  <a:srgbClr val="4F46E5"/>
                </a:solidFill>
              </a:defRPr>
            </a:pPr>
            <a:r>
              <a:t>Formal 5-Tuple Specification:</a:t>
            </a:r>
          </a:p>
          <a:p>
            <a:pPr>
              <a:defRPr sz="1150">
                <a:solidFill>
                  <a:srgbClr val="1E293B"/>
                </a:solidFill>
              </a:defRPr>
            </a:pPr>
            <a:r>
              <a:t>The DFA is formally defined as M = (Q, Σ, δ, q₀, F):</a:t>
            </a:r>
          </a:p>
        </p:txBody>
      </p:sp>
      <p:graphicFrame>
        <p:nvGraphicFramePr>
          <p:cNvPr id="6" name="Table 5"/>
          <p:cNvGraphicFramePr>
            <a:graphicFrameLocks noGrp="1"/>
          </p:cNvGraphicFramePr>
          <p:nvPr/>
        </p:nvGraphicFramePr>
        <p:xfrm>
          <a:off x="731520" y="2011680"/>
          <a:ext cx="5120640" cy="2560320"/>
        </p:xfrm>
        <a:graphic>
          <a:graphicData uri="http://schemas.openxmlformats.org/drawingml/2006/table">
            <a:tbl>
              <a:tblPr firstRow="1" bandRow="1">
                <a:tableStyleId>{5C22544A-7EE6-4342-B048-85BDC9FD1C3A}</a:tableStyleId>
              </a:tblPr>
              <a:tblGrid>
                <a:gridCol w="1097280"/>
                <a:gridCol w="4023360"/>
              </a:tblGrid>
              <a:tr h="426720">
                <a:tc>
                  <a:txBody>
                    <a:bodyPr/>
                    <a:lstStyle/>
                    <a:p>
                      <a:pPr>
                        <a:defRPr sz="950" b="1">
                          <a:solidFill>
                            <a:srgbClr val="FFFFFF"/>
                          </a:solidFill>
                        </a:defRPr>
                      </a:pPr>
                      <a:r>
                        <a:t>Symbol</a:t>
                      </a:r>
                    </a:p>
                  </a:txBody>
                  <a:tcPr>
                    <a:solidFill>
                      <a:srgbClr val="4F46E5"/>
                    </a:solidFill>
                  </a:tcPr>
                </a:tc>
                <a:tc>
                  <a:txBody>
                    <a:bodyPr/>
                    <a:lstStyle/>
                    <a:p>
                      <a:pPr>
                        <a:defRPr sz="950" b="1">
                          <a:solidFill>
                            <a:srgbClr val="FFFFFF"/>
                          </a:solidFill>
                        </a:defRPr>
                      </a:pPr>
                      <a:r>
                        <a:t>Meaning &amp; Definition</a:t>
                      </a:r>
                    </a:p>
                  </a:txBody>
                  <a:tcPr>
                    <a:solidFill>
                      <a:srgbClr val="4F46E5"/>
                    </a:solidFill>
                  </a:tcPr>
                </a:tc>
              </a:tr>
              <a:tr h="426720">
                <a:tc>
                  <a:txBody>
                    <a:bodyPr/>
                    <a:lstStyle/>
                    <a:p>
                      <a:pPr>
                        <a:defRPr sz="950" b="1">
                          <a:solidFill>
                            <a:srgbClr val="1E293B"/>
                          </a:solidFill>
                        </a:defRPr>
                      </a:pPr>
                      <a:r>
                        <a:t>Q</a:t>
                      </a:r>
                    </a:p>
                  </a:txBody>
                  <a:tcPr>
                    <a:solidFill>
                      <a:srgbClr val="F8FAFC"/>
                    </a:solidFill>
                  </a:tcPr>
                </a:tc>
                <a:tc>
                  <a:txBody>
                    <a:bodyPr/>
                    <a:lstStyle/>
                    <a:p>
                      <a:pPr>
                        <a:defRPr sz="950" b="0">
                          <a:solidFill>
                            <a:srgbClr val="1E293B"/>
                          </a:solidFill>
                        </a:defRPr>
                      </a:pPr>
                      <a:r>
                        <a:t>{ q₀,₀, q₁,₀, q₂,₀, q₀,₁, q₁,₁, q₂,₁ }  (|Q| = 6 states)</a:t>
                      </a:r>
                    </a:p>
                  </a:txBody>
                  <a:tcPr>
                    <a:solidFill>
                      <a:srgbClr val="F8FAFC"/>
                    </a:solidFill>
                  </a:tcPr>
                </a:tc>
              </a:tr>
              <a:tr h="426720">
                <a:tc>
                  <a:txBody>
                    <a:bodyPr/>
                    <a:lstStyle/>
                    <a:p>
                      <a:pPr>
                        <a:defRPr sz="950" b="1">
                          <a:solidFill>
                            <a:srgbClr val="1E293B"/>
                          </a:solidFill>
                        </a:defRPr>
                      </a:pPr>
                      <a:r>
                        <a:t>Σ</a:t>
                      </a:r>
                    </a:p>
                  </a:txBody>
                  <a:tcPr>
                    <a:solidFill>
                      <a:srgbClr val="F8FAFC"/>
                    </a:solidFill>
                  </a:tcPr>
                </a:tc>
                <a:tc>
                  <a:txBody>
                    <a:bodyPr/>
                    <a:lstStyle/>
                    <a:p>
                      <a:pPr>
                        <a:defRPr sz="950" b="0">
                          <a:solidFill>
                            <a:srgbClr val="1E293B"/>
                          </a:solidFill>
                        </a:defRPr>
                      </a:pPr>
                      <a:r>
                        <a:t>{ a, b } (Binary input alphabet)</a:t>
                      </a:r>
                    </a:p>
                  </a:txBody>
                  <a:tcPr>
                    <a:solidFill>
                      <a:srgbClr val="F8FAFC"/>
                    </a:solidFill>
                  </a:tcPr>
                </a:tc>
              </a:tr>
              <a:tr h="426720">
                <a:tc>
                  <a:txBody>
                    <a:bodyPr/>
                    <a:lstStyle/>
                    <a:p>
                      <a:pPr>
                        <a:defRPr sz="950" b="1">
                          <a:solidFill>
                            <a:srgbClr val="1E293B"/>
                          </a:solidFill>
                        </a:defRPr>
                      </a:pPr>
                      <a:r>
                        <a:t>q₀</a:t>
                      </a:r>
                    </a:p>
                  </a:txBody>
                  <a:tcPr>
                    <a:solidFill>
                      <a:srgbClr val="F8FAFC"/>
                    </a:solidFill>
                  </a:tcPr>
                </a:tc>
                <a:tc>
                  <a:txBody>
                    <a:bodyPr/>
                    <a:lstStyle/>
                    <a:p>
                      <a:pPr>
                        <a:defRPr sz="950" b="0">
                          <a:solidFill>
                            <a:srgbClr val="1E293B"/>
                          </a:solidFill>
                        </a:defRPr>
                      </a:pPr>
                      <a:r>
                        <a:t>q₀,₀  (Initial State, tracking residues Nₐ≡0, Nb≡0)</a:t>
                      </a:r>
                    </a:p>
                  </a:txBody>
                  <a:tcPr>
                    <a:solidFill>
                      <a:srgbClr val="F8FAFC"/>
                    </a:solidFill>
                  </a:tcPr>
                </a:tc>
              </a:tr>
              <a:tr h="426720">
                <a:tc>
                  <a:txBody>
                    <a:bodyPr/>
                    <a:lstStyle/>
                    <a:p>
                      <a:pPr>
                        <a:defRPr sz="950" b="1">
                          <a:solidFill>
                            <a:srgbClr val="1E293B"/>
                          </a:solidFill>
                        </a:defRPr>
                      </a:pPr>
                      <a:r>
                        <a:t>F</a:t>
                      </a:r>
                    </a:p>
                  </a:txBody>
                  <a:tcPr>
                    <a:solidFill>
                      <a:srgbClr val="F8FAFC"/>
                    </a:solidFill>
                  </a:tcPr>
                </a:tc>
                <a:tc>
                  <a:txBody>
                    <a:bodyPr/>
                    <a:lstStyle/>
                    <a:p>
                      <a:pPr>
                        <a:defRPr sz="950" b="0">
                          <a:solidFill>
                            <a:srgbClr val="1E293B"/>
                          </a:solidFill>
                        </a:defRPr>
                      </a:pPr>
                      <a:r>
                        <a:t>{ q₀,₀ } (Accepting State where Nₐ=3m and Nb=2n)</a:t>
                      </a:r>
                    </a:p>
                  </a:txBody>
                  <a:tcPr>
                    <a:solidFill>
                      <a:srgbClr val="F8FAFC"/>
                    </a:solidFill>
                  </a:tcPr>
                </a:tc>
              </a:tr>
              <a:tr h="426720">
                <a:tc>
                  <a:txBody>
                    <a:bodyPr/>
                    <a:lstStyle/>
                    <a:p>
                      <a:pPr>
                        <a:defRPr sz="950" b="1">
                          <a:solidFill>
                            <a:srgbClr val="1E293B"/>
                          </a:solidFill>
                        </a:defRPr>
                      </a:pPr>
                      <a:r>
                        <a:t>δ</a:t>
                      </a:r>
                    </a:p>
                  </a:txBody>
                  <a:tcPr>
                    <a:solidFill>
                      <a:srgbClr val="F8FAFC"/>
                    </a:solidFill>
                  </a:tcPr>
                </a:tc>
                <a:tc>
                  <a:txBody>
                    <a:bodyPr/>
                    <a:lstStyle/>
                    <a:p>
                      <a:pPr>
                        <a:defRPr sz="950" b="0">
                          <a:solidFill>
                            <a:srgbClr val="1E293B"/>
                          </a:solidFill>
                        </a:defRPr>
                      </a:pPr>
                      <a:r>
                        <a:t>Transition Function: Q × Σ ⟶ Q</a:t>
                      </a:r>
                    </a:p>
                  </a:txBody>
                  <a:tcPr>
                    <a:solidFill>
                      <a:srgbClr val="F8FAFC"/>
                    </a:solidFill>
                  </a:tcPr>
                </a:tc>
              </a:tr>
            </a:tbl>
          </a:graphicData>
        </a:graphic>
      </p:graphicFrame>
      <p:sp>
        <p:nvSpPr>
          <p:cNvPr id="7" name="TextBox 6"/>
          <p:cNvSpPr txBox="1"/>
          <p:nvPr/>
        </p:nvSpPr>
        <p:spPr>
          <a:xfrm>
            <a:off x="6217920" y="1371600"/>
            <a:ext cx="5303520" cy="4754880"/>
          </a:xfrm>
          <a:prstGeom prst="rect">
            <a:avLst/>
          </a:prstGeom>
          <a:noFill/>
        </p:spPr>
        <p:txBody>
          <a:bodyPr wrap="square">
            <a:spAutoFit/>
          </a:bodyPr>
          <a:lstStyle/>
          <a:p>
            <a:pPr>
              <a:defRPr b="1" sz="1400">
                <a:solidFill>
                  <a:srgbClr val="4F46E5"/>
                </a:solidFill>
              </a:defRPr>
            </a:pPr>
            <a:r>
              <a:t>State Transition Table (δ: Q × Σ ⟶ Q):</a:t>
            </a:r>
          </a:p>
        </p:txBody>
      </p:sp>
      <p:graphicFrame>
        <p:nvGraphicFramePr>
          <p:cNvPr id="8" name="Table 7"/>
          <p:cNvGraphicFramePr>
            <a:graphicFrameLocks noGrp="1"/>
          </p:cNvGraphicFramePr>
          <p:nvPr/>
        </p:nvGraphicFramePr>
        <p:xfrm>
          <a:off x="6217920" y="2011680"/>
          <a:ext cx="5212080" cy="3108960"/>
        </p:xfrm>
        <a:graphic>
          <a:graphicData uri="http://schemas.openxmlformats.org/drawingml/2006/table">
            <a:tbl>
              <a:tblPr firstRow="1" bandRow="1">
                <a:tableStyleId>{5C22544A-7EE6-4342-B048-85BDC9FD1C3A}</a:tableStyleId>
              </a:tblPr>
              <a:tblGrid>
                <a:gridCol w="1188720"/>
                <a:gridCol w="1005840"/>
                <a:gridCol w="1005840"/>
                <a:gridCol w="2011680"/>
              </a:tblGrid>
              <a:tr h="444137">
                <a:tc>
                  <a:txBody>
                    <a:bodyPr/>
                    <a:lstStyle/>
                    <a:p>
                      <a:pPr>
                        <a:defRPr sz="900" b="1">
                          <a:solidFill>
                            <a:srgbClr val="FFFFFF"/>
                          </a:solidFill>
                        </a:defRPr>
                      </a:pPr>
                      <a:r>
                        <a:t>Current State</a:t>
                      </a:r>
                    </a:p>
                  </a:txBody>
                  <a:tcPr>
                    <a:solidFill>
                      <a:srgbClr val="0F172A"/>
                    </a:solidFill>
                  </a:tcPr>
                </a:tc>
                <a:tc>
                  <a:txBody>
                    <a:bodyPr/>
                    <a:lstStyle/>
                    <a:p>
                      <a:pPr>
                        <a:defRPr sz="900" b="1">
                          <a:solidFill>
                            <a:srgbClr val="FFFFFF"/>
                          </a:solidFill>
                        </a:defRPr>
                      </a:pPr>
                      <a:r>
                        <a:t>Input 'a'</a:t>
                      </a:r>
                    </a:p>
                  </a:txBody>
                  <a:tcPr>
                    <a:solidFill>
                      <a:srgbClr val="0F172A"/>
                    </a:solidFill>
                  </a:tcPr>
                </a:tc>
                <a:tc>
                  <a:txBody>
                    <a:bodyPr/>
                    <a:lstStyle/>
                    <a:p>
                      <a:pPr>
                        <a:defRPr sz="900" b="1">
                          <a:solidFill>
                            <a:srgbClr val="FFFFFF"/>
                          </a:solidFill>
                        </a:defRPr>
                      </a:pPr>
                      <a:r>
                        <a:t>Input 'b'</a:t>
                      </a:r>
                    </a:p>
                  </a:txBody>
                  <a:tcPr>
                    <a:solidFill>
                      <a:srgbClr val="0F172A"/>
                    </a:solidFill>
                  </a:tcPr>
                </a:tc>
                <a:tc>
                  <a:txBody>
                    <a:bodyPr/>
                    <a:lstStyle/>
                    <a:p>
                      <a:pPr>
                        <a:defRPr sz="900" b="1">
                          <a:solidFill>
                            <a:srgbClr val="FFFFFF"/>
                          </a:solidFill>
                        </a:defRPr>
                      </a:pPr>
                      <a:r>
                        <a:t>Residue Invariant</a:t>
                      </a:r>
                    </a:p>
                  </a:txBody>
                  <a:tcPr>
                    <a:solidFill>
                      <a:srgbClr val="0F172A"/>
                    </a:solidFill>
                  </a:tcPr>
                </a:tc>
              </a:tr>
              <a:tr h="444137">
                <a:tc>
                  <a:txBody>
                    <a:bodyPr/>
                    <a:lstStyle/>
                    <a:p>
                      <a:pPr>
                        <a:defRPr sz="900" b="1">
                          <a:solidFill>
                            <a:srgbClr val="1E293B"/>
                          </a:solidFill>
                        </a:defRPr>
                      </a:pPr>
                      <a:r>
                        <a:t>-&gt; * q₀,₀</a:t>
                      </a:r>
                    </a:p>
                  </a:txBody>
                  <a:tcPr>
                    <a:solidFill>
                      <a:srgbClr val="F8FAFC"/>
                    </a:solidFill>
                  </a:tcPr>
                </a:tc>
                <a:tc>
                  <a:txBody>
                    <a:bodyPr/>
                    <a:lstStyle/>
                    <a:p>
                      <a:pPr>
                        <a:defRPr sz="900" b="0">
                          <a:solidFill>
                            <a:srgbClr val="1E293B"/>
                          </a:solidFill>
                        </a:defRPr>
                      </a:pPr>
                      <a:r>
                        <a:t>q₁,₀</a:t>
                      </a:r>
                    </a:p>
                  </a:txBody>
                  <a:tcPr>
                    <a:solidFill>
                      <a:srgbClr val="F8FAFC"/>
                    </a:solidFill>
                  </a:tcPr>
                </a:tc>
                <a:tc>
                  <a:txBody>
                    <a:bodyPr/>
                    <a:lstStyle/>
                    <a:p>
                      <a:pPr>
                        <a:defRPr sz="900" b="0">
                          <a:solidFill>
                            <a:srgbClr val="1E293B"/>
                          </a:solidFill>
                        </a:defRPr>
                      </a:pPr>
                      <a:r>
                        <a:t>q₀,₁</a:t>
                      </a:r>
                    </a:p>
                  </a:txBody>
                  <a:tcPr>
                    <a:solidFill>
                      <a:srgbClr val="F8FAFC"/>
                    </a:solidFill>
                  </a:tcPr>
                </a:tc>
                <a:tc>
                  <a:txBody>
                    <a:bodyPr/>
                    <a:lstStyle/>
                    <a:p>
                      <a:pPr>
                        <a:defRPr sz="900" b="0">
                          <a:solidFill>
                            <a:srgbClr val="1E293B"/>
                          </a:solidFill>
                        </a:defRPr>
                      </a:pPr>
                      <a:r>
                        <a:t>Nₐ ≡ 0 mod 3, Nb ≡ 0 mod 2 (Final)</a:t>
                      </a:r>
                    </a:p>
                  </a:txBody>
                  <a:tcPr>
                    <a:solidFill>
                      <a:srgbClr val="F8FAFC"/>
                    </a:solidFill>
                  </a:tcPr>
                </a:tc>
              </a:tr>
              <a:tr h="444137">
                <a:tc>
                  <a:txBody>
                    <a:bodyPr/>
                    <a:lstStyle/>
                    <a:p>
                      <a:pPr>
                        <a:defRPr sz="900" b="0">
                          <a:solidFill>
                            <a:srgbClr val="1E293B"/>
                          </a:solidFill>
                        </a:defRPr>
                      </a:pPr>
                      <a:r>
                        <a:t>      q₁,₀</a:t>
                      </a:r>
                    </a:p>
                  </a:txBody>
                  <a:tcPr>
                    <a:solidFill>
                      <a:srgbClr val="F8FAFC"/>
                    </a:solidFill>
                  </a:tcPr>
                </a:tc>
                <a:tc>
                  <a:txBody>
                    <a:bodyPr/>
                    <a:lstStyle/>
                    <a:p>
                      <a:pPr>
                        <a:defRPr sz="900" b="0">
                          <a:solidFill>
                            <a:srgbClr val="1E293B"/>
                          </a:solidFill>
                        </a:defRPr>
                      </a:pPr>
                      <a:r>
                        <a:t>q₂,₀</a:t>
                      </a:r>
                    </a:p>
                  </a:txBody>
                  <a:tcPr>
                    <a:solidFill>
                      <a:srgbClr val="F8FAFC"/>
                    </a:solidFill>
                  </a:tcPr>
                </a:tc>
                <a:tc>
                  <a:txBody>
                    <a:bodyPr/>
                    <a:lstStyle/>
                    <a:p>
                      <a:pPr>
                        <a:defRPr sz="900" b="0">
                          <a:solidFill>
                            <a:srgbClr val="1E293B"/>
                          </a:solidFill>
                        </a:defRPr>
                      </a:pPr>
                      <a:r>
                        <a:t>q₁,₁</a:t>
                      </a:r>
                    </a:p>
                  </a:txBody>
                  <a:tcPr>
                    <a:solidFill>
                      <a:srgbClr val="F8FAFC"/>
                    </a:solidFill>
                  </a:tcPr>
                </a:tc>
                <a:tc>
                  <a:txBody>
                    <a:bodyPr/>
                    <a:lstStyle/>
                    <a:p>
                      <a:pPr>
                        <a:defRPr sz="900" b="0">
                          <a:solidFill>
                            <a:srgbClr val="1E293B"/>
                          </a:solidFill>
                        </a:defRPr>
                      </a:pPr>
                      <a:r>
                        <a:t>Nₐ ≡ 1 mod 3, Nb ≡ 0 mod 2</a:t>
                      </a:r>
                    </a:p>
                  </a:txBody>
                  <a:tcPr>
                    <a:solidFill>
                      <a:srgbClr val="F8FAFC"/>
                    </a:solidFill>
                  </a:tcPr>
                </a:tc>
              </a:tr>
              <a:tr h="444137">
                <a:tc>
                  <a:txBody>
                    <a:bodyPr/>
                    <a:lstStyle/>
                    <a:p>
                      <a:pPr>
                        <a:defRPr sz="900" b="0">
                          <a:solidFill>
                            <a:srgbClr val="1E293B"/>
                          </a:solidFill>
                        </a:defRPr>
                      </a:pPr>
                      <a:r>
                        <a:t>      q₂,₀</a:t>
                      </a:r>
                    </a:p>
                  </a:txBody>
                  <a:tcPr>
                    <a:solidFill>
                      <a:srgbClr val="F8FAFC"/>
                    </a:solidFill>
                  </a:tcPr>
                </a:tc>
                <a:tc>
                  <a:txBody>
                    <a:bodyPr/>
                    <a:lstStyle/>
                    <a:p>
                      <a:pPr>
                        <a:defRPr sz="900" b="0">
                          <a:solidFill>
                            <a:srgbClr val="1E293B"/>
                          </a:solidFill>
                        </a:defRPr>
                      </a:pPr>
                      <a:r>
                        <a:t>q₀,₀</a:t>
                      </a:r>
                    </a:p>
                  </a:txBody>
                  <a:tcPr>
                    <a:solidFill>
                      <a:srgbClr val="F8FAFC"/>
                    </a:solidFill>
                  </a:tcPr>
                </a:tc>
                <a:tc>
                  <a:txBody>
                    <a:bodyPr/>
                    <a:lstStyle/>
                    <a:p>
                      <a:pPr>
                        <a:defRPr sz="900" b="0">
                          <a:solidFill>
                            <a:srgbClr val="1E293B"/>
                          </a:solidFill>
                        </a:defRPr>
                      </a:pPr>
                      <a:r>
                        <a:t>q₂,₁</a:t>
                      </a:r>
                    </a:p>
                  </a:txBody>
                  <a:tcPr>
                    <a:solidFill>
                      <a:srgbClr val="F8FAFC"/>
                    </a:solidFill>
                  </a:tcPr>
                </a:tc>
                <a:tc>
                  <a:txBody>
                    <a:bodyPr/>
                    <a:lstStyle/>
                    <a:p>
                      <a:pPr>
                        <a:defRPr sz="900" b="0">
                          <a:solidFill>
                            <a:srgbClr val="1E293B"/>
                          </a:solidFill>
                        </a:defRPr>
                      </a:pPr>
                      <a:r>
                        <a:t>Nₐ ≡ 2 mod 3, Nb ≡ 0 mod 2</a:t>
                      </a:r>
                    </a:p>
                  </a:txBody>
                  <a:tcPr>
                    <a:solidFill>
                      <a:srgbClr val="F8FAFC"/>
                    </a:solidFill>
                  </a:tcPr>
                </a:tc>
              </a:tr>
              <a:tr h="444137">
                <a:tc>
                  <a:txBody>
                    <a:bodyPr/>
                    <a:lstStyle/>
                    <a:p>
                      <a:pPr>
                        <a:defRPr sz="900" b="0">
                          <a:solidFill>
                            <a:srgbClr val="1E293B"/>
                          </a:solidFill>
                        </a:defRPr>
                      </a:pPr>
                      <a:r>
                        <a:t>      q₀,₁</a:t>
                      </a:r>
                    </a:p>
                  </a:txBody>
                  <a:tcPr>
                    <a:solidFill>
                      <a:srgbClr val="F8FAFC"/>
                    </a:solidFill>
                  </a:tcPr>
                </a:tc>
                <a:tc>
                  <a:txBody>
                    <a:bodyPr/>
                    <a:lstStyle/>
                    <a:p>
                      <a:pPr>
                        <a:defRPr sz="900" b="0">
                          <a:solidFill>
                            <a:srgbClr val="1E293B"/>
                          </a:solidFill>
                        </a:defRPr>
                      </a:pPr>
                      <a:r>
                        <a:t>q₁,₁</a:t>
                      </a:r>
                    </a:p>
                  </a:txBody>
                  <a:tcPr>
                    <a:solidFill>
                      <a:srgbClr val="F8FAFC"/>
                    </a:solidFill>
                  </a:tcPr>
                </a:tc>
                <a:tc>
                  <a:txBody>
                    <a:bodyPr/>
                    <a:lstStyle/>
                    <a:p>
                      <a:pPr>
                        <a:defRPr sz="900" b="0">
                          <a:solidFill>
                            <a:srgbClr val="1E293B"/>
                          </a:solidFill>
                        </a:defRPr>
                      </a:pPr>
                      <a:r>
                        <a:t>q₀,₀</a:t>
                      </a:r>
                    </a:p>
                  </a:txBody>
                  <a:tcPr>
                    <a:solidFill>
                      <a:srgbClr val="F8FAFC"/>
                    </a:solidFill>
                  </a:tcPr>
                </a:tc>
                <a:tc>
                  <a:txBody>
                    <a:bodyPr/>
                    <a:lstStyle/>
                    <a:p>
                      <a:pPr>
                        <a:defRPr sz="900" b="0">
                          <a:solidFill>
                            <a:srgbClr val="1E293B"/>
                          </a:solidFill>
                        </a:defRPr>
                      </a:pPr>
                      <a:r>
                        <a:t>Nₐ ≡ 0 mod 3, Nb ≡ 1 mod 2</a:t>
                      </a:r>
                    </a:p>
                  </a:txBody>
                  <a:tcPr>
                    <a:solidFill>
                      <a:srgbClr val="F8FAFC"/>
                    </a:solidFill>
                  </a:tcPr>
                </a:tc>
              </a:tr>
              <a:tr h="444137">
                <a:tc>
                  <a:txBody>
                    <a:bodyPr/>
                    <a:lstStyle/>
                    <a:p>
                      <a:pPr>
                        <a:defRPr sz="900" b="0">
                          <a:solidFill>
                            <a:srgbClr val="1E293B"/>
                          </a:solidFill>
                        </a:defRPr>
                      </a:pPr>
                      <a:r>
                        <a:t>      q₁,₁</a:t>
                      </a:r>
                    </a:p>
                  </a:txBody>
                  <a:tcPr>
                    <a:solidFill>
                      <a:srgbClr val="F8FAFC"/>
                    </a:solidFill>
                  </a:tcPr>
                </a:tc>
                <a:tc>
                  <a:txBody>
                    <a:bodyPr/>
                    <a:lstStyle/>
                    <a:p>
                      <a:pPr>
                        <a:defRPr sz="900" b="0">
                          <a:solidFill>
                            <a:srgbClr val="1E293B"/>
                          </a:solidFill>
                        </a:defRPr>
                      </a:pPr>
                      <a:r>
                        <a:t>q₂,₁</a:t>
                      </a:r>
                    </a:p>
                  </a:txBody>
                  <a:tcPr>
                    <a:solidFill>
                      <a:srgbClr val="F8FAFC"/>
                    </a:solidFill>
                  </a:tcPr>
                </a:tc>
                <a:tc>
                  <a:txBody>
                    <a:bodyPr/>
                    <a:lstStyle/>
                    <a:p>
                      <a:pPr>
                        <a:defRPr sz="900" b="0">
                          <a:solidFill>
                            <a:srgbClr val="1E293B"/>
                          </a:solidFill>
                        </a:defRPr>
                      </a:pPr>
                      <a:r>
                        <a:t>q₁,₀</a:t>
                      </a:r>
                    </a:p>
                  </a:txBody>
                  <a:tcPr>
                    <a:solidFill>
                      <a:srgbClr val="F8FAFC"/>
                    </a:solidFill>
                  </a:tcPr>
                </a:tc>
                <a:tc>
                  <a:txBody>
                    <a:bodyPr/>
                    <a:lstStyle/>
                    <a:p>
                      <a:pPr>
                        <a:defRPr sz="900" b="0">
                          <a:solidFill>
                            <a:srgbClr val="1E293B"/>
                          </a:solidFill>
                        </a:defRPr>
                      </a:pPr>
                      <a:r>
                        <a:t>Nₐ ≡ 1 mod 3, Nb ≡ 1 mod 2</a:t>
                      </a:r>
                    </a:p>
                  </a:txBody>
                  <a:tcPr>
                    <a:solidFill>
                      <a:srgbClr val="F8FAFC"/>
                    </a:solidFill>
                  </a:tcPr>
                </a:tc>
              </a:tr>
              <a:tr h="444138">
                <a:tc>
                  <a:txBody>
                    <a:bodyPr/>
                    <a:lstStyle/>
                    <a:p>
                      <a:pPr>
                        <a:defRPr sz="900" b="0">
                          <a:solidFill>
                            <a:srgbClr val="1E293B"/>
                          </a:solidFill>
                        </a:defRPr>
                      </a:pPr>
                      <a:r>
                        <a:t>      q₂,₁</a:t>
                      </a:r>
                    </a:p>
                  </a:txBody>
                  <a:tcPr>
                    <a:solidFill>
                      <a:srgbClr val="F8FAFC"/>
                    </a:solidFill>
                  </a:tcPr>
                </a:tc>
                <a:tc>
                  <a:txBody>
                    <a:bodyPr/>
                    <a:lstStyle/>
                    <a:p>
                      <a:pPr>
                        <a:defRPr sz="900" b="0">
                          <a:solidFill>
                            <a:srgbClr val="1E293B"/>
                          </a:solidFill>
                        </a:defRPr>
                      </a:pPr>
                      <a:r>
                        <a:t>q₀,₁</a:t>
                      </a:r>
                    </a:p>
                  </a:txBody>
                  <a:tcPr>
                    <a:solidFill>
                      <a:srgbClr val="F8FAFC"/>
                    </a:solidFill>
                  </a:tcPr>
                </a:tc>
                <a:tc>
                  <a:txBody>
                    <a:bodyPr/>
                    <a:lstStyle/>
                    <a:p>
                      <a:pPr>
                        <a:defRPr sz="900" b="0">
                          <a:solidFill>
                            <a:srgbClr val="1E293B"/>
                          </a:solidFill>
                        </a:defRPr>
                      </a:pPr>
                      <a:r>
                        <a:t>q₂,₀</a:t>
                      </a:r>
                    </a:p>
                  </a:txBody>
                  <a:tcPr>
                    <a:solidFill>
                      <a:srgbClr val="F8FAFC"/>
                    </a:solidFill>
                  </a:tcPr>
                </a:tc>
                <a:tc>
                  <a:txBody>
                    <a:bodyPr/>
                    <a:lstStyle/>
                    <a:p>
                      <a:pPr>
                        <a:defRPr sz="900" b="0">
                          <a:solidFill>
                            <a:srgbClr val="1E293B"/>
                          </a:solidFill>
                        </a:defRPr>
                      </a:pPr>
                      <a:r>
                        <a:t>Nₐ ≡ 2 mod 3, Nb ≡ 1 mod 2</a:t>
                      </a:r>
                    </a:p>
                  </a:txBody>
                  <a:tcPr>
                    <a:solidFill>
                      <a:srgbClr val="F8FAFC"/>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tIns="0" bIns="0" lIns="0" rIns="0">
            <a:spAutoFit/>
          </a:bodyPr>
          <a:lstStyle/>
          <a:p>
            <a:pPr>
              <a:defRPr sz="2200" b="1">
                <a:solidFill>
                  <a:srgbClr val="0F172A"/>
                </a:solidFill>
                <a:latin typeface="Arial"/>
              </a:defRPr>
            </a:pPr>
            <a:r>
              <a:t>4. Automaton &amp; Model Design</a:t>
            </a:r>
          </a:p>
        </p:txBody>
      </p:sp>
      <p:sp>
        <p:nvSpPr>
          <p:cNvPr id="3" name="Rectangle 2"/>
          <p:cNvSpPr/>
          <p:nvPr/>
        </p:nvSpPr>
        <p:spPr>
          <a:xfrm>
            <a:off x="731520" y="1188720"/>
            <a:ext cx="10698480" cy="36576"/>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65760"/>
          </a:xfrm>
          <a:prstGeom prst="rect">
            <a:avLst/>
          </a:prstGeom>
          <a:noFill/>
        </p:spPr>
        <p:txBody>
          <a:bodyPr wrap="none" tIns="0" bIns="0" lIns="0" rIns="0">
            <a:spAutoFit/>
          </a:bodyPr>
          <a:lstStyle/>
          <a:p>
            <a:pPr>
              <a:defRPr sz="900">
                <a:solidFill>
                  <a:srgbClr val="64748B"/>
                </a:solidFill>
                <a:latin typeface="Arial"/>
              </a:defRPr>
            </a:pPr>
            <a:r>
              <a:t>S. B. Jain Institute of Technology, Management &amp; Research, Nagpur | Department of Emerging Technologies CSE (AI&amp;ML)</a:t>
            </a:r>
          </a:p>
        </p:txBody>
      </p:sp>
      <p:graphicFrame>
        <p:nvGraphicFramePr>
          <p:cNvPr id="5" name="Table 4"/>
          <p:cNvGraphicFramePr>
            <a:graphicFrameLocks noGrp="1"/>
          </p:cNvGraphicFramePr>
          <p:nvPr/>
        </p:nvGraphicFramePr>
        <p:xfrm>
          <a:off x="731520" y="1463040"/>
          <a:ext cx="10698479" cy="3291840"/>
        </p:xfrm>
        <a:graphic>
          <a:graphicData uri="http://schemas.openxmlformats.org/drawingml/2006/table">
            <a:tbl>
              <a:tblPr firstRow="1" bandRow="1">
                <a:tableStyleId>{5C22544A-7EE6-4342-B048-85BDC9FD1C3A}</a:tableStyleId>
              </a:tblPr>
              <a:tblGrid>
                <a:gridCol w="2743200"/>
                <a:gridCol w="7955279"/>
              </a:tblGrid>
              <a:tr h="411480">
                <a:tc>
                  <a:txBody>
                    <a:bodyPr/>
                    <a:lstStyle/>
                    <a:p>
                      <a:pPr>
                        <a:defRPr sz="1000" b="1">
                          <a:solidFill>
                            <a:srgbClr val="FFFFFF"/>
                          </a:solidFill>
                        </a:defRPr>
                      </a:pPr>
                      <a:r>
                        <a:t>Implementation Module</a:t>
                      </a:r>
                    </a:p>
                  </a:txBody>
                  <a:tcPr>
                    <a:solidFill>
                      <a:srgbClr val="4F46E5"/>
                    </a:solidFill>
                  </a:tcPr>
                </a:tc>
                <a:tc>
                  <a:txBody>
                    <a:bodyPr/>
                    <a:lstStyle/>
                    <a:p>
                      <a:pPr>
                        <a:defRPr sz="1000" b="1">
                          <a:solidFill>
                            <a:srgbClr val="FFFFFF"/>
                          </a:solidFill>
                        </a:defRPr>
                      </a:pPr>
                      <a:r>
                        <a:t>Technical Responsibility &amp; Theoretical Function</a:t>
                      </a:r>
                    </a:p>
                  </a:txBody>
                  <a:tcPr>
                    <a:solidFill>
                      <a:srgbClr val="4F46E5"/>
                    </a:solidFill>
                  </a:tcPr>
                </a:tc>
              </a:tr>
              <a:tr h="411480">
                <a:tc>
                  <a:txBody>
                    <a:bodyPr/>
                    <a:lstStyle/>
                    <a:p>
                      <a:pPr>
                        <a:defRPr sz="1000" b="1">
                          <a:solidFill>
                            <a:srgbClr val="1E293B"/>
                          </a:solidFill>
                        </a:defRPr>
                      </a:pPr>
                      <a:r>
                        <a:t>dfaEngine.ts</a:t>
                      </a:r>
                    </a:p>
                  </a:txBody>
                  <a:tcPr>
                    <a:solidFill>
                      <a:srgbClr val="F8FAFC"/>
                    </a:solidFill>
                  </a:tcPr>
                </a:tc>
                <a:tc>
                  <a:txBody>
                    <a:bodyPr/>
                    <a:lstStyle/>
                    <a:p>
                      <a:pPr>
                        <a:defRPr sz="1000" b="0">
                          <a:solidFill>
                            <a:srgbClr val="1E293B"/>
                          </a:solidFill>
                        </a:defRPr>
                      </a:pPr>
                      <a:r>
                        <a:t>Core mathematical transition table δ, remainder calculators, and ID generator.</a:t>
                      </a:r>
                    </a:p>
                  </a:txBody>
                  <a:tcPr>
                    <a:solidFill>
                      <a:srgbClr val="F8FAFC"/>
                    </a:solidFill>
                  </a:tcPr>
                </a:tc>
              </a:tr>
              <a:tr h="411480">
                <a:tc>
                  <a:txBody>
                    <a:bodyPr/>
                    <a:lstStyle/>
                    <a:p>
                      <a:pPr>
                        <a:defRPr sz="1000" b="1">
                          <a:solidFill>
                            <a:srgbClr val="1E293B"/>
                          </a:solidFill>
                        </a:defRPr>
                      </a:pPr>
                      <a:r>
                        <a:t>DFADiagram.tsx</a:t>
                      </a:r>
                    </a:p>
                  </a:txBody>
                  <a:tcPr>
                    <a:solidFill>
                      <a:srgbClr val="F8FAFC"/>
                    </a:solidFill>
                  </a:tcPr>
                </a:tc>
                <a:tc>
                  <a:txBody>
                    <a:bodyPr/>
                    <a:lstStyle/>
                    <a:p>
                      <a:pPr>
                        <a:defRPr sz="1000" b="0">
                          <a:solidFill>
                            <a:srgbClr val="1E293B"/>
                          </a:solidFill>
                        </a:defRPr>
                      </a:pPr>
                      <a:r>
                        <a:t>Interactive SVG vector state machine graph with real-time active edge and state animations.</a:t>
                      </a:r>
                    </a:p>
                  </a:txBody>
                  <a:tcPr>
                    <a:solidFill>
                      <a:srgbClr val="F8FAFC"/>
                    </a:solidFill>
                  </a:tcPr>
                </a:tc>
              </a:tr>
              <a:tr h="411480">
                <a:tc>
                  <a:txBody>
                    <a:bodyPr/>
                    <a:lstStyle/>
                    <a:p>
                      <a:pPr>
                        <a:defRPr sz="1000" b="1">
                          <a:solidFill>
                            <a:srgbClr val="1E293B"/>
                          </a:solidFill>
                        </a:defRPr>
                      </a:pPr>
                      <a:r>
                        <a:t>TapeVisualizer.tsx</a:t>
                      </a:r>
                    </a:p>
                  </a:txBody>
                  <a:tcPr>
                    <a:solidFill>
                      <a:srgbClr val="F8FAFC"/>
                    </a:solidFill>
                  </a:tcPr>
                </a:tc>
                <a:tc>
                  <a:txBody>
                    <a:bodyPr/>
                    <a:lstStyle/>
                    <a:p>
                      <a:pPr>
                        <a:defRPr sz="1000" b="0">
                          <a:solidFill>
                            <a:srgbClr val="1E293B"/>
                          </a:solidFill>
                        </a:defRPr>
                      </a:pPr>
                      <a:r>
                        <a:t>Dynamic input tape cells showing processed, active, and upcoming symbols with read head (▼).</a:t>
                      </a:r>
                    </a:p>
                  </a:txBody>
                  <a:tcPr>
                    <a:solidFill>
                      <a:srgbClr val="F8FAFC"/>
                    </a:solidFill>
                  </a:tcPr>
                </a:tc>
              </a:tr>
              <a:tr h="411480">
                <a:tc>
                  <a:txBody>
                    <a:bodyPr/>
                    <a:lstStyle/>
                    <a:p>
                      <a:pPr>
                        <a:defRPr sz="1000" b="1">
                          <a:solidFill>
                            <a:srgbClr val="1E293B"/>
                          </a:solidFill>
                        </a:defRPr>
                      </a:pPr>
                      <a:r>
                        <a:t>SimulationControls.tsx</a:t>
                      </a:r>
                    </a:p>
                  </a:txBody>
                  <a:tcPr>
                    <a:solidFill>
                      <a:srgbClr val="F8FAFC"/>
                    </a:solidFill>
                  </a:tcPr>
                </a:tc>
                <a:tc>
                  <a:txBody>
                    <a:bodyPr/>
                    <a:lstStyle/>
                    <a:p>
                      <a:pPr>
                        <a:defRPr sz="1000" b="0">
                          <a:solidFill>
                            <a:srgbClr val="1E293B"/>
                          </a:solidFill>
                        </a:defRPr>
                      </a:pPr>
                      <a:r>
                        <a:t>Controllable execution engine (Play, Pause, Step Next, Step Prev, Speed slider 0.5x-3x).</a:t>
                      </a:r>
                    </a:p>
                  </a:txBody>
                  <a:tcPr>
                    <a:solidFill>
                      <a:srgbClr val="F8FAFC"/>
                    </a:solidFill>
                  </a:tcPr>
                </a:tc>
              </a:tr>
              <a:tr h="411480">
                <a:tc>
                  <a:txBody>
                    <a:bodyPr/>
                    <a:lstStyle/>
                    <a:p>
                      <a:pPr>
                        <a:defRPr sz="1000" b="1">
                          <a:solidFill>
                            <a:srgbClr val="1E293B"/>
                          </a:solidFill>
                        </a:defRPr>
                      </a:pPr>
                      <a:r>
                        <a:t>InstantaneousDescription.tsx</a:t>
                      </a:r>
                    </a:p>
                  </a:txBody>
                  <a:tcPr>
                    <a:solidFill>
                      <a:srgbClr val="F8FAFC"/>
                    </a:solidFill>
                  </a:tcPr>
                </a:tc>
                <a:tc>
                  <a:txBody>
                    <a:bodyPr/>
                    <a:lstStyle/>
                    <a:p>
                      <a:pPr>
                        <a:defRPr sz="1000" b="0">
                          <a:solidFill>
                            <a:srgbClr val="1E293B"/>
                          </a:solidFill>
                        </a:defRPr>
                      </a:pPr>
                      <a:r>
                        <a:t>Mathematical derivation sequence: (q₀,₀, w) ⊢ (q₁,₀, w') ⊢ ... with copyable trace.</a:t>
                      </a:r>
                    </a:p>
                  </a:txBody>
                  <a:tcPr>
                    <a:solidFill>
                      <a:srgbClr val="F8FAFC"/>
                    </a:solidFill>
                  </a:tcPr>
                </a:tc>
              </a:tr>
              <a:tr h="411480">
                <a:tc>
                  <a:txBody>
                    <a:bodyPr/>
                    <a:lstStyle/>
                    <a:p>
                      <a:pPr>
                        <a:defRPr sz="1000" b="1">
                          <a:solidFill>
                            <a:srgbClr val="1E293B"/>
                          </a:solidFill>
                        </a:defRPr>
                      </a:pPr>
                      <a:r>
                        <a:t>BatchTestingSuite.tsx</a:t>
                      </a:r>
                    </a:p>
                  </a:txBody>
                  <a:tcPr>
                    <a:solidFill>
                      <a:srgbClr val="F8FAFC"/>
                    </a:solidFill>
                  </a:tcPr>
                </a:tc>
                <a:tc>
                  <a:txBody>
                    <a:bodyPr/>
                    <a:lstStyle/>
                    <a:p>
                      <a:pPr>
                        <a:defRPr sz="1000" b="0">
                          <a:solidFill>
                            <a:srgbClr val="1E293B"/>
                          </a:solidFill>
                        </a:defRPr>
                      </a:pPr>
                      <a:r>
                        <a:t>Automated test runner verifying 24+ boundary cases with real-time audit pass scorecard.</a:t>
                      </a:r>
                    </a:p>
                  </a:txBody>
                  <a:tcPr>
                    <a:solidFill>
                      <a:srgbClr val="F8FAFC"/>
                    </a:solidFill>
                  </a:tcPr>
                </a:tc>
              </a:tr>
              <a:tr h="411480">
                <a:tc>
                  <a:txBody>
                    <a:bodyPr/>
                    <a:lstStyle/>
                    <a:p>
                      <a:pPr>
                        <a:defRPr sz="1000" b="1">
                          <a:solidFill>
                            <a:srgbClr val="1E293B"/>
                          </a:solidFill>
                        </a:defRPr>
                      </a:pPr>
                      <a:r>
                        <a:t>InstallAppModal.tsx</a:t>
                      </a:r>
                    </a:p>
                  </a:txBody>
                  <a:tcPr>
                    <a:solidFill>
                      <a:srgbClr val="F8FAFC"/>
                    </a:solidFill>
                  </a:tcPr>
                </a:tc>
                <a:tc>
                  <a:txBody>
                    <a:bodyPr/>
                    <a:lstStyle/>
                    <a:p>
                      <a:pPr>
                        <a:defRPr sz="1000" b="0">
                          <a:solidFill>
                            <a:srgbClr val="1E293B"/>
                          </a:solidFill>
                        </a:defRPr>
                      </a:pPr>
                      <a:r>
                        <a:t>Progressive Web App (PWA) offline installation engine for Android APK and Windows Desktop.</a:t>
                      </a:r>
                    </a:p>
                  </a:txBody>
                  <a:tcPr>
                    <a:solidFill>
                      <a:srgbClr val="F8FAFC"/>
                    </a:solidFill>
                  </a:tcPr>
                </a:tc>
              </a:tr>
            </a:tbl>
          </a:graphicData>
        </a:graphic>
      </p:graphicFrame>
      <p:sp>
        <p:nvSpPr>
          <p:cNvPr id="6" name="TextBox 5"/>
          <p:cNvSpPr txBox="1"/>
          <p:nvPr/>
        </p:nvSpPr>
        <p:spPr>
          <a:xfrm>
            <a:off x="731520" y="4937760"/>
            <a:ext cx="10698480" cy="1280160"/>
          </a:xfrm>
          <a:prstGeom prst="rect">
            <a:avLst/>
          </a:prstGeom>
          <a:noFill/>
        </p:spPr>
        <p:txBody>
          <a:bodyPr wrap="square">
            <a:spAutoFit/>
          </a:bodyPr>
          <a:lstStyle/>
          <a:p>
            <a:pPr>
              <a:defRPr b="1" sz="1200">
                <a:solidFill>
                  <a:srgbClr val="0F172A"/>
                </a:solidFill>
              </a:defRPr>
            </a:pPr>
            <a:r>
              <a:t>String Simulation Engine Features:</a:t>
            </a:r>
          </a:p>
          <a:p>
            <a:pPr>
              <a:defRPr sz="1100">
                <a:solidFill>
                  <a:srgbClr val="1E293B"/>
                </a:solidFill>
              </a:defRPr>
            </a:pPr>
            <a:r>
              <a:t>• Real-time Modulo Invariant Equation: Continuously updates Nₐ = 3m + rₐ and Nb = 2n + rb with exact multipliers m and n.</a:t>
            </a:r>
            <a:br/>
            <a:r>
              <a:t>• Step-by-Step State Highlighting: Visual node pulse halo and traveling edge pulse track each symbol read.</a:t>
            </a:r>
            <a:br/>
            <a:r>
              <a:t>• Final Decision: Confetti animation on ACCEPTED (halts in q₀,₀), detailed algebraic reason on REJECTED.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tIns="0" bIns="0" lIns="0" rIns="0">
            <a:spAutoFit/>
          </a:bodyPr>
          <a:lstStyle/>
          <a:p>
            <a:pPr>
              <a:defRPr sz="2200" b="1">
                <a:solidFill>
                  <a:srgbClr val="0F172A"/>
                </a:solidFill>
                <a:latin typeface="Arial"/>
              </a:defRPr>
            </a:pPr>
            <a:r>
              <a:t>5. Complexity &amp; Minimality Analysis</a:t>
            </a:r>
          </a:p>
        </p:txBody>
      </p:sp>
      <p:sp>
        <p:nvSpPr>
          <p:cNvPr id="3" name="Rectangle 2"/>
          <p:cNvSpPr/>
          <p:nvPr/>
        </p:nvSpPr>
        <p:spPr>
          <a:xfrm>
            <a:off x="731520" y="1188720"/>
            <a:ext cx="10698480" cy="36576"/>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65760"/>
          </a:xfrm>
          <a:prstGeom prst="rect">
            <a:avLst/>
          </a:prstGeom>
          <a:noFill/>
        </p:spPr>
        <p:txBody>
          <a:bodyPr wrap="none" tIns="0" bIns="0" lIns="0" rIns="0">
            <a:spAutoFit/>
          </a:bodyPr>
          <a:lstStyle/>
          <a:p>
            <a:pPr>
              <a:defRPr sz="900">
                <a:solidFill>
                  <a:srgbClr val="64748B"/>
                </a:solidFill>
                <a:latin typeface="Arial"/>
              </a:defRPr>
            </a:pPr>
            <a:r>
              <a:t>S. B. Jain Institute of Technology, Management &amp; Research, Nagpur | Department of Emerging Technologies CSE (AI&amp;ML)</a:t>
            </a:r>
          </a:p>
        </p:txBody>
      </p:sp>
      <p:sp>
        <p:nvSpPr>
          <p:cNvPr id="5" name="TextBox 4"/>
          <p:cNvSpPr txBox="1"/>
          <p:nvPr/>
        </p:nvSpPr>
        <p:spPr>
          <a:xfrm>
            <a:off x="731520" y="1371600"/>
            <a:ext cx="10698480" cy="4846320"/>
          </a:xfrm>
          <a:prstGeom prst="rect">
            <a:avLst/>
          </a:prstGeom>
          <a:noFill/>
        </p:spPr>
        <p:txBody>
          <a:bodyPr wrap="square">
            <a:spAutoFit/>
          </a:bodyPr>
          <a:lstStyle/>
          <a:p>
            <a:pPr>
              <a:defRPr b="1" sz="1400">
                <a:solidFill>
                  <a:srgbClr val="4F46E5"/>
                </a:solidFill>
              </a:defRPr>
            </a:pPr>
            <a:r>
              <a:t>Computational Complexity Analysis:</a:t>
            </a:r>
          </a:p>
          <a:p>
            <a:pPr>
              <a:spcAft>
                <a:spcPts val="400"/>
              </a:spcAft>
              <a:defRPr sz="1150">
                <a:solidFill>
                  <a:srgbClr val="1E293B"/>
                </a:solidFill>
              </a:defRPr>
            </a:pPr>
            <a:r>
              <a:t>• Time Complexity for Simulation: O(|w|) strictly linear time, where |w| is the length of the input string. Because the machine is a deterministic DFA, each symbol requires exactly one O(1) table lookup with zero backtracking.</a:t>
            </a:r>
          </a:p>
          <a:p>
            <a:pPr>
              <a:spcAft>
                <a:spcPts val="400"/>
              </a:spcAft>
              <a:defRPr sz="1150">
                <a:solidFill>
                  <a:srgbClr val="1E293B"/>
                </a:solidFill>
              </a:defRPr>
            </a:pPr>
            <a:r>
              <a:t>• Space Complexity: O(1) auxiliary runtime space. The automaton requires constant memory representing only the current state index in Q.</a:t>
            </a:r>
          </a:p>
          <a:p>
            <a:pPr>
              <a:spcAft>
                <a:spcPts val="400"/>
              </a:spcAft>
              <a:defRPr sz="1150">
                <a:solidFill>
                  <a:srgbClr val="1E293B"/>
                </a:solidFill>
              </a:defRPr>
            </a:pPr>
            <a:r>
              <a:t>• Verification Precomputation: O(|w|) time to extract character frequencies and compute integer quotients m = ⌊Nₐ/3⌋ and n = ⌊Nb/2⌋.</a:t>
            </a:r>
          </a:p>
          <a:p>
            <a:pPr>
              <a:spcBef>
                <a:spcPts val="600"/>
              </a:spcBef>
              <a:defRPr b="1" sz="1300">
                <a:solidFill>
                  <a:srgbClr val="0F172A"/>
                </a:solidFill>
              </a:defRPr>
            </a:pPr>
            <a:r>
              <a:t>Proof of State Minimality (Myhill-Nerode Theorem):</a:t>
            </a:r>
          </a:p>
          <a:p>
            <a:pPr>
              <a:defRPr sz="1100">
                <a:solidFill>
                  <a:srgbClr val="1E293B"/>
                </a:solidFill>
              </a:defRPr>
            </a:pPr>
            <a:r>
              <a:t>Why does this language require strictly 6 states? Can it be compressed?</a:t>
            </a:r>
            <a:br/>
            <a:r>
              <a:t>By the Myhill-Nerode Theorem, the minimum number of states in any DFA for L equals the index (number of equivalence classes) of the relation ≡_L. We prove all 6 states are pairwise distinguishable:</a:t>
            </a:r>
            <a:br/>
            <a:r>
              <a:t>    1. Differentiating 'b' parity: States with different j remainders (e.g. q₀,₀ vs q₀,₁) are distinguished by z = ε (one accepts, other rejects) or z = 'b'.</a:t>
            </a:r>
            <a:br/>
            <a:r>
              <a:t>    2. Differentiating 'a' remainders: States with identical j but different i (e.g. q₁,₀ vs q₂,₀) are distinguished by z = 'aa'. Suffix 'aa' takes q₁,₀ ⟶ q₀,₀ (Accept), while it takes q₂,₀ ⟶ q₁,₀ (Reject).</a:t>
            </a:r>
            <a:br/>
            <a:r>
              <a:t>Since all 6 classes are pairwise distinguishable, MinStates(DFA) = 6. No DFA with fewer than 6 states can recognize L.</a:t>
            </a:r>
          </a:p>
          <a:p>
            <a:pPr>
              <a:spcBef>
                <a:spcPts val="600"/>
              </a:spcBef>
              <a:defRPr b="1" sz="1300">
                <a:solidFill>
                  <a:srgbClr val="4F46E5"/>
                </a:solidFill>
              </a:defRPr>
            </a:pPr>
            <a:r>
              <a:t>Closure Properties:</a:t>
            </a:r>
          </a:p>
          <a:p>
            <a:pPr>
              <a:defRPr sz="1150">
                <a:solidFill>
                  <a:srgbClr val="1E293B"/>
                </a:solidFill>
              </a:defRPr>
            </a:pPr>
            <a:r>
              <a:t>Because L is regular, it is closed under Union, Intersection, Complement, Concatenation, Kleene Star, and Reversal.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tIns="0" bIns="0" lIns="0" rIns="0">
            <a:spAutoFit/>
          </a:bodyPr>
          <a:lstStyle/>
          <a:p>
            <a:pPr>
              <a:defRPr sz="2200" b="1">
                <a:solidFill>
                  <a:srgbClr val="0F172A"/>
                </a:solidFill>
                <a:latin typeface="Arial"/>
              </a:defRPr>
            </a:pPr>
            <a:r>
              <a:t>6. Real-World CSE Applications</a:t>
            </a:r>
          </a:p>
        </p:txBody>
      </p:sp>
      <p:sp>
        <p:nvSpPr>
          <p:cNvPr id="3" name="Rectangle 2"/>
          <p:cNvSpPr/>
          <p:nvPr/>
        </p:nvSpPr>
        <p:spPr>
          <a:xfrm>
            <a:off x="731520" y="1188720"/>
            <a:ext cx="10698480" cy="36576"/>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65760"/>
          </a:xfrm>
          <a:prstGeom prst="rect">
            <a:avLst/>
          </a:prstGeom>
          <a:noFill/>
        </p:spPr>
        <p:txBody>
          <a:bodyPr wrap="none" tIns="0" bIns="0" lIns="0" rIns="0">
            <a:spAutoFit/>
          </a:bodyPr>
          <a:lstStyle/>
          <a:p>
            <a:pPr>
              <a:defRPr sz="900">
                <a:solidFill>
                  <a:srgbClr val="64748B"/>
                </a:solidFill>
                <a:latin typeface="Arial"/>
              </a:defRPr>
            </a:pPr>
            <a:r>
              <a:t>S. B. Jain Institute of Technology, Management &amp; Research, Nagpur | Department of Emerging Technologies CSE (AI&amp;ML)</a:t>
            </a:r>
          </a:p>
        </p:txBody>
      </p:sp>
      <p:sp>
        <p:nvSpPr>
          <p:cNvPr id="5" name="Rounded Rectangle 4"/>
          <p:cNvSpPr/>
          <p:nvPr/>
        </p:nvSpPr>
        <p:spPr>
          <a:xfrm>
            <a:off x="731520" y="1463040"/>
            <a:ext cx="5120640" cy="2103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754880" cy="1828800"/>
          </a:xfrm>
          <a:prstGeom prst="rect">
            <a:avLst/>
          </a:prstGeom>
          <a:noFill/>
        </p:spPr>
        <p:txBody>
          <a:bodyPr wrap="square">
            <a:spAutoFit/>
          </a:bodyPr>
          <a:lstStyle/>
          <a:p>
            <a:pPr>
              <a:spcAft>
                <a:spcPts val="400"/>
              </a:spcAft>
              <a:defRPr b="1" sz="1200">
                <a:solidFill>
                  <a:srgbClr val="4F46E5"/>
                </a:solidFill>
              </a:defRPr>
            </a:pPr>
            <a:r>
              <a:t>1. Bioinformatics &amp; DNA/RNA Codon Validation</a:t>
            </a:r>
          </a:p>
          <a:p>
            <a:pPr>
              <a:defRPr sz="1050">
                <a:solidFill>
                  <a:srgbClr val="1E293B"/>
                </a:solidFill>
              </a:defRPr>
            </a:pPr>
            <a:r>
              <a:t>In genetics, mRNA is translated by ribosomes in triplets of 3 nucleotides (codons). Automata verify N ≡ 0 (mod 3) reading frames to prevent frameshift mutations in genomic alignment tools (BLAST, FASTA).</a:t>
            </a:r>
          </a:p>
        </p:txBody>
      </p:sp>
      <p:sp>
        <p:nvSpPr>
          <p:cNvPr id="7" name="Rounded Rectangle 6"/>
          <p:cNvSpPr/>
          <p:nvPr/>
        </p:nvSpPr>
        <p:spPr>
          <a:xfrm>
            <a:off x="6126480" y="1463040"/>
            <a:ext cx="5120640" cy="2103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600200"/>
            <a:ext cx="4754880" cy="1828800"/>
          </a:xfrm>
          <a:prstGeom prst="rect">
            <a:avLst/>
          </a:prstGeom>
          <a:noFill/>
        </p:spPr>
        <p:txBody>
          <a:bodyPr wrap="square">
            <a:spAutoFit/>
          </a:bodyPr>
          <a:lstStyle/>
          <a:p>
            <a:pPr>
              <a:spcAft>
                <a:spcPts val="400"/>
              </a:spcAft>
              <a:defRPr b="1" sz="1200">
                <a:solidFill>
                  <a:srgbClr val="4F46E5"/>
                </a:solidFill>
              </a:defRPr>
            </a:pPr>
            <a:r>
              <a:t>2. Hardware Error Detection &amp; Parity Checking</a:t>
            </a:r>
          </a:p>
          <a:p>
            <a:pPr>
              <a:defRPr sz="1050">
                <a:solidFill>
                  <a:srgbClr val="1E293B"/>
                </a:solidFill>
              </a:defRPr>
            </a:pPr>
            <a:r>
              <a:t>The condition Nb ≡ 0 (mod 2) is the exact mathematical model of Even Parity Checking, used across serial communication hardware (UART, RS-232, PCIe) and ECC RAM for single-bit error detection.</a:t>
            </a:r>
          </a:p>
        </p:txBody>
      </p:sp>
      <p:sp>
        <p:nvSpPr>
          <p:cNvPr id="9" name="Rounded Rectangle 8"/>
          <p:cNvSpPr/>
          <p:nvPr/>
        </p:nvSpPr>
        <p:spPr>
          <a:xfrm>
            <a:off x="731520" y="3840480"/>
            <a:ext cx="5120640" cy="2103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77640"/>
            <a:ext cx="4754880" cy="1828800"/>
          </a:xfrm>
          <a:prstGeom prst="rect">
            <a:avLst/>
          </a:prstGeom>
          <a:noFill/>
        </p:spPr>
        <p:txBody>
          <a:bodyPr wrap="square">
            <a:spAutoFit/>
          </a:bodyPr>
          <a:lstStyle/>
          <a:p>
            <a:pPr>
              <a:spcAft>
                <a:spcPts val="400"/>
              </a:spcAft>
              <a:defRPr b="1" sz="1200">
                <a:solidFill>
                  <a:srgbClr val="4F46E5"/>
                </a:solidFill>
              </a:defRPr>
            </a:pPr>
            <a:r>
              <a:t>3. Digital Electronics &amp; VLSI Clock Dividers</a:t>
            </a:r>
          </a:p>
          <a:p>
            <a:pPr>
              <a:defRPr sz="1050">
                <a:solidFill>
                  <a:srgbClr val="1E293B"/>
                </a:solidFill>
              </a:defRPr>
            </a:pPr>
            <a:r>
              <a:t>This 6-state automaton maps directly to a synchronous dual-clock divider FSM in Verilog/VHDL, synthesizing synchronized 1/3rd and 1/2nd frequency clock phases in microcontrollers.</a:t>
            </a:r>
          </a:p>
        </p:txBody>
      </p:sp>
      <p:sp>
        <p:nvSpPr>
          <p:cNvPr id="11" name="Rounded Rectangle 10"/>
          <p:cNvSpPr/>
          <p:nvPr/>
        </p:nvSpPr>
        <p:spPr>
          <a:xfrm>
            <a:off x="6126480" y="3840480"/>
            <a:ext cx="5120640" cy="21031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3977640"/>
            <a:ext cx="4754880" cy="1828800"/>
          </a:xfrm>
          <a:prstGeom prst="rect">
            <a:avLst/>
          </a:prstGeom>
          <a:noFill/>
        </p:spPr>
        <p:txBody>
          <a:bodyPr wrap="square">
            <a:spAutoFit/>
          </a:bodyPr>
          <a:lstStyle/>
          <a:p>
            <a:pPr>
              <a:spcAft>
                <a:spcPts val="400"/>
              </a:spcAft>
              <a:defRPr b="1" sz="1200">
                <a:solidFill>
                  <a:srgbClr val="4F46E5"/>
                </a:solidFill>
              </a:defRPr>
            </a:pPr>
            <a:r>
              <a:t>4. Compiler Design &amp; Memory Alignment</a:t>
            </a:r>
          </a:p>
          <a:p>
            <a:pPr>
              <a:defRPr sz="1050">
                <a:solidFill>
                  <a:srgbClr val="1E293B"/>
                </a:solidFill>
              </a:defRPr>
            </a:pPr>
            <a:r>
              <a:t>Compilers (LLVM, GCC) use modular DFAs during lexical analysis to verify 32-bit (4-byte) or 64-bit (8-byte) memory alignment, opcode padding, and grammar block indentation.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tIns="0" bIns="0" lIns="0" rIns="0">
            <a:spAutoFit/>
          </a:bodyPr>
          <a:lstStyle/>
          <a:p>
            <a:pPr>
              <a:defRPr sz="2200" b="1">
                <a:solidFill>
                  <a:srgbClr val="0F172A"/>
                </a:solidFill>
                <a:latin typeface="Arial"/>
              </a:defRPr>
            </a:pPr>
            <a:r>
              <a:t>7. Comparative Analysis</a:t>
            </a:r>
          </a:p>
        </p:txBody>
      </p:sp>
      <p:sp>
        <p:nvSpPr>
          <p:cNvPr id="3" name="Rectangle 2"/>
          <p:cNvSpPr/>
          <p:nvPr/>
        </p:nvSpPr>
        <p:spPr>
          <a:xfrm>
            <a:off x="731520" y="1188720"/>
            <a:ext cx="10698480" cy="36576"/>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65760"/>
          </a:xfrm>
          <a:prstGeom prst="rect">
            <a:avLst/>
          </a:prstGeom>
          <a:noFill/>
        </p:spPr>
        <p:txBody>
          <a:bodyPr wrap="none" tIns="0" bIns="0" lIns="0" rIns="0">
            <a:spAutoFit/>
          </a:bodyPr>
          <a:lstStyle/>
          <a:p>
            <a:pPr>
              <a:defRPr sz="900">
                <a:solidFill>
                  <a:srgbClr val="64748B"/>
                </a:solidFill>
                <a:latin typeface="Arial"/>
              </a:defRPr>
            </a:pPr>
            <a:r>
              <a:t>S. B. Jain Institute of Technology, Management &amp; Research, Nagpur | Department of Emerging Technologies CSE (AI&amp;ML)</a:t>
            </a:r>
          </a:p>
        </p:txBody>
      </p:sp>
      <p:graphicFrame>
        <p:nvGraphicFramePr>
          <p:cNvPr id="5" name="Table 4"/>
          <p:cNvGraphicFramePr>
            <a:graphicFrameLocks noGrp="1"/>
          </p:cNvGraphicFramePr>
          <p:nvPr/>
        </p:nvGraphicFramePr>
        <p:xfrm>
          <a:off x="731520" y="1371600"/>
          <a:ext cx="10698480" cy="4114800"/>
        </p:xfrm>
        <a:graphic>
          <a:graphicData uri="http://schemas.openxmlformats.org/drawingml/2006/table">
            <a:tbl>
              <a:tblPr firstRow="1" bandRow="1">
                <a:tableStyleId>{5C22544A-7EE6-4342-B048-85BDC9FD1C3A}</a:tableStyleId>
              </a:tblPr>
              <a:tblGrid>
                <a:gridCol w="2194560"/>
                <a:gridCol w="2834640"/>
                <a:gridCol w="2834640"/>
                <a:gridCol w="2834640"/>
              </a:tblGrid>
              <a:tr h="514350">
                <a:tc>
                  <a:txBody>
                    <a:bodyPr/>
                    <a:lstStyle/>
                    <a:p>
                      <a:pPr>
                        <a:defRPr sz="950" b="1">
                          <a:solidFill>
                            <a:srgbClr val="FFFFFF"/>
                          </a:solidFill>
                        </a:defRPr>
                      </a:pPr>
                      <a:r>
                        <a:t>Parameter</a:t>
                      </a:r>
                    </a:p>
                  </a:txBody>
                  <a:tcPr>
                    <a:solidFill>
                      <a:srgbClr val="0F172A"/>
                    </a:solidFill>
                  </a:tcPr>
                </a:tc>
                <a:tc>
                  <a:txBody>
                    <a:bodyPr/>
                    <a:lstStyle/>
                    <a:p>
                      <a:pPr>
                        <a:defRPr sz="950" b="1">
                          <a:solidFill>
                            <a:srgbClr val="FFFFFF"/>
                          </a:solidFill>
                        </a:defRPr>
                      </a:pPr>
                      <a:r>
                        <a:t>Unoptimized NFA</a:t>
                      </a:r>
                    </a:p>
                  </a:txBody>
                  <a:tcPr>
                    <a:solidFill>
                      <a:srgbClr val="0F172A"/>
                    </a:solidFill>
                  </a:tcPr>
                </a:tc>
                <a:tc>
                  <a:txBody>
                    <a:bodyPr/>
                    <a:lstStyle/>
                    <a:p>
                      <a:pPr>
                        <a:defRPr sz="950" b="1">
                          <a:solidFill>
                            <a:srgbClr val="FFFFFF"/>
                          </a:solidFill>
                        </a:defRPr>
                      </a:pPr>
                      <a:r>
                        <a:t>Standard Product DFA</a:t>
                      </a:r>
                    </a:p>
                  </a:txBody>
                  <a:tcPr>
                    <a:solidFill>
                      <a:srgbClr val="0F172A"/>
                    </a:solidFill>
                  </a:tcPr>
                </a:tc>
                <a:tc>
                  <a:txBody>
                    <a:bodyPr/>
                    <a:lstStyle/>
                    <a:p>
                      <a:pPr>
                        <a:defRPr sz="950" b="1">
                          <a:solidFill>
                            <a:srgbClr val="FFFFFF"/>
                          </a:solidFill>
                        </a:defRPr>
                      </a:pPr>
                      <a:r>
                        <a:t>Optimized DFA (Our Model)</a:t>
                      </a:r>
                    </a:p>
                  </a:txBody>
                  <a:tcPr>
                    <a:solidFill>
                      <a:srgbClr val="0F172A"/>
                    </a:solidFill>
                  </a:tcPr>
                </a:tc>
              </a:tr>
              <a:tr h="514350">
                <a:tc>
                  <a:txBody>
                    <a:bodyPr/>
                    <a:lstStyle/>
                    <a:p>
                      <a:pPr>
                        <a:defRPr sz="950" b="1">
                          <a:solidFill>
                            <a:srgbClr val="1E293B"/>
                          </a:solidFill>
                        </a:defRPr>
                      </a:pPr>
                      <a:r>
                        <a:t>State Count</a:t>
                      </a:r>
                    </a:p>
                  </a:txBody>
                  <a:tcPr>
                    <a:solidFill>
                      <a:srgbClr val="F8FAFC"/>
                    </a:solidFill>
                  </a:tcPr>
                </a:tc>
                <a:tc>
                  <a:txBody>
                    <a:bodyPr/>
                    <a:lstStyle/>
                    <a:p>
                      <a:pPr>
                        <a:defRPr sz="950" b="0">
                          <a:solidFill>
                            <a:srgbClr val="1E293B"/>
                          </a:solidFill>
                        </a:defRPr>
                      </a:pPr>
                      <a:r>
                        <a:t>May grow redundantly</a:t>
                      </a:r>
                    </a:p>
                  </a:txBody>
                  <a:tcPr>
                    <a:solidFill>
                      <a:srgbClr val="F8FAFC"/>
                    </a:solidFill>
                  </a:tcPr>
                </a:tc>
                <a:tc>
                  <a:txBody>
                    <a:bodyPr/>
                    <a:lstStyle/>
                    <a:p>
                      <a:pPr>
                        <a:defRPr sz="950" b="0">
                          <a:solidFill>
                            <a:srgbClr val="1E293B"/>
                          </a:solidFill>
                        </a:defRPr>
                      </a:pPr>
                      <a:r>
                        <a:t>6 States (3 × 2)</a:t>
                      </a:r>
                    </a:p>
                  </a:txBody>
                  <a:tcPr>
                    <a:solidFill>
                      <a:srgbClr val="F8FAFC"/>
                    </a:solidFill>
                  </a:tcPr>
                </a:tc>
                <a:tc>
                  <a:txBody>
                    <a:bodyPr/>
                    <a:lstStyle/>
                    <a:p>
                      <a:pPr>
                        <a:defRPr sz="950" b="1">
                          <a:solidFill>
                            <a:srgbClr val="1E293B"/>
                          </a:solidFill>
                        </a:defRPr>
                      </a:pPr>
                      <a:r>
                        <a:t>6 States + 1 Trap State</a:t>
                      </a:r>
                    </a:p>
                  </a:txBody>
                  <a:tcPr>
                    <a:solidFill>
                      <a:srgbClr val="F8FAFC"/>
                    </a:solidFill>
                  </a:tcPr>
                </a:tc>
              </a:tr>
              <a:tr h="514350">
                <a:tc>
                  <a:txBody>
                    <a:bodyPr/>
                    <a:lstStyle/>
                    <a:p>
                      <a:pPr>
                        <a:defRPr sz="950" b="1">
                          <a:solidFill>
                            <a:srgbClr val="1E293B"/>
                          </a:solidFill>
                        </a:defRPr>
                      </a:pPr>
                      <a:r>
                        <a:t>Non-Determinism</a:t>
                      </a:r>
                    </a:p>
                  </a:txBody>
                  <a:tcPr>
                    <a:solidFill>
                      <a:srgbClr val="F8FAFC"/>
                    </a:solidFill>
                  </a:tcPr>
                </a:tc>
                <a:tc>
                  <a:txBody>
                    <a:bodyPr/>
                    <a:lstStyle/>
                    <a:p>
                      <a:pPr>
                        <a:defRPr sz="950" b="0">
                          <a:solidFill>
                            <a:srgbClr val="1E293B"/>
                          </a:solidFill>
                        </a:defRPr>
                      </a:pPr>
                      <a:r>
                        <a:t>Yes (Multiple branches)</a:t>
                      </a:r>
                    </a:p>
                  </a:txBody>
                  <a:tcPr>
                    <a:solidFill>
                      <a:srgbClr val="F8FAFC"/>
                    </a:solidFill>
                  </a:tcPr>
                </a:tc>
                <a:tc>
                  <a:txBody>
                    <a:bodyPr/>
                    <a:lstStyle/>
                    <a:p>
                      <a:pPr>
                        <a:defRPr sz="950" b="0">
                          <a:solidFill>
                            <a:srgbClr val="1E293B"/>
                          </a:solidFill>
                        </a:defRPr>
                      </a:pPr>
                      <a:r>
                        <a:t>No (Deterministic)</a:t>
                      </a:r>
                    </a:p>
                  </a:txBody>
                  <a:tcPr>
                    <a:solidFill>
                      <a:srgbClr val="F8FAFC"/>
                    </a:solidFill>
                  </a:tcPr>
                </a:tc>
                <a:tc>
                  <a:txBody>
                    <a:bodyPr/>
                    <a:lstStyle/>
                    <a:p>
                      <a:pPr>
                        <a:defRPr sz="950" b="1">
                          <a:solidFill>
                            <a:srgbClr val="1E293B"/>
                          </a:solidFill>
                        </a:defRPr>
                      </a:pPr>
                      <a:r>
                        <a:t>No (Purely Deterministic)</a:t>
                      </a:r>
                    </a:p>
                  </a:txBody>
                  <a:tcPr>
                    <a:solidFill>
                      <a:srgbClr val="F8FAFC"/>
                    </a:solidFill>
                  </a:tcPr>
                </a:tc>
              </a:tr>
              <a:tr h="514350">
                <a:tc>
                  <a:txBody>
                    <a:bodyPr/>
                    <a:lstStyle/>
                    <a:p>
                      <a:pPr>
                        <a:defRPr sz="950" b="1">
                          <a:solidFill>
                            <a:srgbClr val="1E293B"/>
                          </a:solidFill>
                        </a:defRPr>
                      </a:pPr>
                      <a:r>
                        <a:t>String Runtime</a:t>
                      </a:r>
                    </a:p>
                  </a:txBody>
                  <a:tcPr>
                    <a:solidFill>
                      <a:srgbClr val="F8FAFC"/>
                    </a:solidFill>
                  </a:tcPr>
                </a:tc>
                <a:tc>
                  <a:txBody>
                    <a:bodyPr/>
                    <a:lstStyle/>
                    <a:p>
                      <a:pPr>
                        <a:defRPr sz="950" b="0">
                          <a:solidFill>
                            <a:srgbClr val="1E293B"/>
                          </a:solidFill>
                        </a:defRPr>
                      </a:pPr>
                      <a:r>
                        <a:t>O(2ⁿ · |w|) backtracking</a:t>
                      </a:r>
                    </a:p>
                  </a:txBody>
                  <a:tcPr>
                    <a:solidFill>
                      <a:srgbClr val="F8FAFC"/>
                    </a:solidFill>
                  </a:tcPr>
                </a:tc>
                <a:tc>
                  <a:txBody>
                    <a:bodyPr/>
                    <a:lstStyle/>
                    <a:p>
                      <a:pPr>
                        <a:defRPr sz="950" b="0">
                          <a:solidFill>
                            <a:srgbClr val="1E293B"/>
                          </a:solidFill>
                        </a:defRPr>
                      </a:pPr>
                      <a:r>
                        <a:t>O(|w|) Linear</a:t>
                      </a:r>
                    </a:p>
                  </a:txBody>
                  <a:tcPr>
                    <a:solidFill>
                      <a:srgbClr val="F8FAFC"/>
                    </a:solidFill>
                  </a:tcPr>
                </a:tc>
                <a:tc>
                  <a:txBody>
                    <a:bodyPr/>
                    <a:lstStyle/>
                    <a:p>
                      <a:pPr>
                        <a:defRPr sz="950" b="1">
                          <a:solidFill>
                            <a:srgbClr val="1E293B"/>
                          </a:solidFill>
                        </a:defRPr>
                      </a:pPr>
                      <a:r>
                        <a:t>O(|w|) Real-Time Linear</a:t>
                      </a:r>
                    </a:p>
                  </a:txBody>
                  <a:tcPr>
                    <a:solidFill>
                      <a:srgbClr val="F8FAFC"/>
                    </a:solidFill>
                  </a:tcPr>
                </a:tc>
              </a:tr>
              <a:tr h="514350">
                <a:tc>
                  <a:txBody>
                    <a:bodyPr/>
                    <a:lstStyle/>
                    <a:p>
                      <a:pPr>
                        <a:defRPr sz="950" b="1">
                          <a:solidFill>
                            <a:srgbClr val="1E293B"/>
                          </a:solidFill>
                        </a:defRPr>
                      </a:pPr>
                      <a:r>
                        <a:t>Empty String (ε)</a:t>
                      </a:r>
                    </a:p>
                  </a:txBody>
                  <a:tcPr>
                    <a:solidFill>
                      <a:srgbClr val="F8FAFC"/>
                    </a:solidFill>
                  </a:tcPr>
                </a:tc>
                <a:tc>
                  <a:txBody>
                    <a:bodyPr/>
                    <a:lstStyle/>
                    <a:p>
                      <a:pPr>
                        <a:defRPr sz="950" b="0">
                          <a:solidFill>
                            <a:srgbClr val="1E293B"/>
                          </a:solidFill>
                        </a:defRPr>
                      </a:pPr>
                      <a:r>
                        <a:t>Handled via ε-closure</a:t>
                      </a:r>
                    </a:p>
                  </a:txBody>
                  <a:tcPr>
                    <a:solidFill>
                      <a:srgbClr val="F8FAFC"/>
                    </a:solidFill>
                  </a:tcPr>
                </a:tc>
                <a:tc>
                  <a:txBody>
                    <a:bodyPr/>
                    <a:lstStyle/>
                    <a:p>
                      <a:pPr>
                        <a:defRPr sz="950" b="0">
                          <a:solidFill>
                            <a:srgbClr val="1E293B"/>
                          </a:solidFill>
                        </a:defRPr>
                      </a:pPr>
                      <a:r>
                        <a:t>Immediate accept at q₀,₀</a:t>
                      </a:r>
                    </a:p>
                  </a:txBody>
                  <a:tcPr>
                    <a:solidFill>
                      <a:srgbClr val="F8FAFC"/>
                    </a:solidFill>
                  </a:tcPr>
                </a:tc>
                <a:tc>
                  <a:txBody>
                    <a:bodyPr/>
                    <a:lstStyle/>
                    <a:p>
                      <a:pPr>
                        <a:defRPr sz="950" b="1">
                          <a:solidFill>
                            <a:srgbClr val="1E293B"/>
                          </a:solidFill>
                        </a:defRPr>
                      </a:pPr>
                      <a:r>
                        <a:t>Immediate accept at q₀,₀</a:t>
                      </a:r>
                    </a:p>
                  </a:txBody>
                  <a:tcPr>
                    <a:solidFill>
                      <a:srgbClr val="F8FAFC"/>
                    </a:solidFill>
                  </a:tcPr>
                </a:tc>
              </a:tr>
              <a:tr h="514350">
                <a:tc>
                  <a:txBody>
                    <a:bodyPr/>
                    <a:lstStyle/>
                    <a:p>
                      <a:pPr>
                        <a:defRPr sz="950" b="1">
                          <a:solidFill>
                            <a:srgbClr val="1E293B"/>
                          </a:solidFill>
                        </a:defRPr>
                      </a:pPr>
                      <a:r>
                        <a:t>Invalid Characters</a:t>
                      </a:r>
                    </a:p>
                  </a:txBody>
                  <a:tcPr>
                    <a:solidFill>
                      <a:srgbClr val="F8FAFC"/>
                    </a:solidFill>
                  </a:tcPr>
                </a:tc>
                <a:tc>
                  <a:txBody>
                    <a:bodyPr/>
                    <a:lstStyle/>
                    <a:p>
                      <a:pPr>
                        <a:defRPr sz="950" b="0">
                          <a:solidFill>
                            <a:srgbClr val="1E293B"/>
                          </a:solidFill>
                        </a:defRPr>
                      </a:pPr>
                      <a:r>
                        <a:t>Halted branch rejection</a:t>
                      </a:r>
                    </a:p>
                  </a:txBody>
                  <a:tcPr>
                    <a:solidFill>
                      <a:srgbClr val="F8FAFC"/>
                    </a:solidFill>
                  </a:tcPr>
                </a:tc>
                <a:tc>
                  <a:txBody>
                    <a:bodyPr/>
                    <a:lstStyle/>
                    <a:p>
                      <a:pPr>
                        <a:defRPr sz="950" b="0">
                          <a:solidFill>
                            <a:srgbClr val="1E293B"/>
                          </a:solidFill>
                        </a:defRPr>
                      </a:pPr>
                      <a:r>
                        <a:t>Undefined transition</a:t>
                      </a:r>
                    </a:p>
                  </a:txBody>
                  <a:tcPr>
                    <a:solidFill>
                      <a:srgbClr val="F8FAFC"/>
                    </a:solidFill>
                  </a:tcPr>
                </a:tc>
                <a:tc>
                  <a:txBody>
                    <a:bodyPr/>
                    <a:lstStyle/>
                    <a:p>
                      <a:pPr>
                        <a:defRPr sz="950" b="1">
                          <a:solidFill>
                            <a:srgbClr val="1E293B"/>
                          </a:solidFill>
                        </a:defRPr>
                      </a:pPr>
                      <a:r>
                        <a:t>Explicit Dead/Trap (q_trap)</a:t>
                      </a:r>
                    </a:p>
                  </a:txBody>
                  <a:tcPr>
                    <a:solidFill>
                      <a:srgbClr val="F8FAFC"/>
                    </a:solidFill>
                  </a:tcPr>
                </a:tc>
              </a:tr>
              <a:tr h="514350">
                <a:tc>
                  <a:txBody>
                    <a:bodyPr/>
                    <a:lstStyle/>
                    <a:p>
                      <a:pPr>
                        <a:defRPr sz="950" b="1">
                          <a:solidFill>
                            <a:srgbClr val="1E293B"/>
                          </a:solidFill>
                        </a:defRPr>
                      </a:pPr>
                      <a:r>
                        <a:t>Memory Footprint</a:t>
                      </a:r>
                    </a:p>
                  </a:txBody>
                  <a:tcPr>
                    <a:solidFill>
                      <a:srgbClr val="F8FAFC"/>
                    </a:solidFill>
                  </a:tcPr>
                </a:tc>
                <a:tc>
                  <a:txBody>
                    <a:bodyPr/>
                    <a:lstStyle/>
                    <a:p>
                      <a:pPr>
                        <a:defRPr sz="950" b="0">
                          <a:solidFill>
                            <a:srgbClr val="1E293B"/>
                          </a:solidFill>
                        </a:defRPr>
                      </a:pPr>
                      <a:r>
                        <a:t>High (Branch stack)</a:t>
                      </a:r>
                    </a:p>
                  </a:txBody>
                  <a:tcPr>
                    <a:solidFill>
                      <a:srgbClr val="F8FAFC"/>
                    </a:solidFill>
                  </a:tcPr>
                </a:tc>
                <a:tc>
                  <a:txBody>
                    <a:bodyPr/>
                    <a:lstStyle/>
                    <a:p>
                      <a:pPr>
                        <a:defRPr sz="950" b="0">
                          <a:solidFill>
                            <a:srgbClr val="1E293B"/>
                          </a:solidFill>
                        </a:defRPr>
                      </a:pPr>
                      <a:r>
                        <a:t>Constant O(1)</a:t>
                      </a:r>
                    </a:p>
                  </a:txBody>
                  <a:tcPr>
                    <a:solidFill>
                      <a:srgbClr val="F8FAFC"/>
                    </a:solidFill>
                  </a:tcPr>
                </a:tc>
                <a:tc>
                  <a:txBody>
                    <a:bodyPr/>
                    <a:lstStyle/>
                    <a:p>
                      <a:pPr>
                        <a:defRPr sz="950" b="1">
                          <a:solidFill>
                            <a:srgbClr val="1E293B"/>
                          </a:solidFill>
                        </a:defRPr>
                      </a:pPr>
                      <a:r>
                        <a:t>Constant O(1) Cache-friendly</a:t>
                      </a:r>
                    </a:p>
                  </a:txBody>
                  <a:tcPr>
                    <a:solidFill>
                      <a:srgbClr val="F8FAFC"/>
                    </a:solidFill>
                  </a:tcPr>
                </a:tc>
              </a:tr>
              <a:tr h="514350">
                <a:tc>
                  <a:txBody>
                    <a:bodyPr/>
                    <a:lstStyle/>
                    <a:p>
                      <a:pPr>
                        <a:defRPr sz="950" b="1">
                          <a:solidFill>
                            <a:srgbClr val="1E293B"/>
                          </a:solidFill>
                        </a:defRPr>
                      </a:pPr>
                      <a:r>
                        <a:t>Platform Support</a:t>
                      </a:r>
                    </a:p>
                  </a:txBody>
                  <a:tcPr>
                    <a:solidFill>
                      <a:srgbClr val="F8FAFC"/>
                    </a:solidFill>
                  </a:tcPr>
                </a:tc>
                <a:tc>
                  <a:txBody>
                    <a:bodyPr/>
                    <a:lstStyle/>
                    <a:p>
                      <a:pPr>
                        <a:defRPr sz="950" b="0">
                          <a:solidFill>
                            <a:srgbClr val="1E293B"/>
                          </a:solidFill>
                        </a:defRPr>
                      </a:pPr>
                      <a:r>
                        <a:t>Theoretical paper only</a:t>
                      </a:r>
                    </a:p>
                  </a:txBody>
                  <a:tcPr>
                    <a:solidFill>
                      <a:srgbClr val="F8FAFC"/>
                    </a:solidFill>
                  </a:tcPr>
                </a:tc>
                <a:tc>
                  <a:txBody>
                    <a:bodyPr/>
                    <a:lstStyle/>
                    <a:p>
                      <a:pPr>
                        <a:defRPr sz="950" b="0">
                          <a:solidFill>
                            <a:srgbClr val="1E293B"/>
                          </a:solidFill>
                        </a:defRPr>
                      </a:pPr>
                      <a:r>
                        <a:t>Console / Web only</a:t>
                      </a:r>
                    </a:p>
                  </a:txBody>
                  <a:tcPr>
                    <a:solidFill>
                      <a:srgbClr val="F8FAFC"/>
                    </a:solidFill>
                  </a:tcPr>
                </a:tc>
                <a:tc>
                  <a:txBody>
                    <a:bodyPr/>
                    <a:lstStyle/>
                    <a:p>
                      <a:pPr>
                        <a:defRPr sz="950" b="1">
                          <a:solidFill>
                            <a:srgbClr val="1E293B"/>
                          </a:solidFill>
                        </a:defRPr>
                      </a:pPr>
                      <a:r>
                        <a:t>Installable Offline PWA</a:t>
                      </a:r>
                    </a:p>
                  </a:txBody>
                  <a:tcPr>
                    <a:solidFill>
                      <a:srgbClr val="F8FAFC"/>
                    </a:solidFill>
                  </a:tcPr>
                </a:tc>
              </a:tr>
            </a:tbl>
          </a:graphicData>
        </a:graphic>
      </p:graphicFrame>
      <p:sp>
        <p:nvSpPr>
          <p:cNvPr id="6" name="TextBox 5"/>
          <p:cNvSpPr txBox="1"/>
          <p:nvPr/>
        </p:nvSpPr>
        <p:spPr>
          <a:xfrm>
            <a:off x="731520" y="5669280"/>
            <a:ext cx="10698480" cy="548640"/>
          </a:xfrm>
          <a:prstGeom prst="rect">
            <a:avLst/>
          </a:prstGeom>
          <a:noFill/>
        </p:spPr>
        <p:txBody>
          <a:bodyPr wrap="none">
            <a:spAutoFit/>
          </a:bodyPr>
          <a:lstStyle/>
          <a:p>
            <a:pPr>
              <a:defRPr sz="1100" b="1">
                <a:solidFill>
                  <a:srgbClr val="4F46E5"/>
                </a:solidFill>
              </a:defRPr>
            </a:pPr>
            <a:r>
              <a:t>Key Takeaway: The Cartesian Product DFA achieves strictly minimal state bounds while eliminating non-deterministic overhead, guaranteeing O(|w|) deterministic validation.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tIns="0" bIns="0" lIns="0" rIns="0">
            <a:spAutoFit/>
          </a:bodyPr>
          <a:lstStyle/>
          <a:p>
            <a:pPr>
              <a:defRPr sz="2200" b="1">
                <a:solidFill>
                  <a:srgbClr val="0F172A"/>
                </a:solidFill>
                <a:latin typeface="Arial"/>
              </a:defRPr>
            </a:pPr>
            <a:r>
              <a:t>8. Conclusion &amp; Key Takeaways</a:t>
            </a:r>
          </a:p>
        </p:txBody>
      </p:sp>
      <p:sp>
        <p:nvSpPr>
          <p:cNvPr id="3" name="Rectangle 2"/>
          <p:cNvSpPr/>
          <p:nvPr/>
        </p:nvSpPr>
        <p:spPr>
          <a:xfrm>
            <a:off x="731520" y="1188720"/>
            <a:ext cx="10698480" cy="36576"/>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65760"/>
          </a:xfrm>
          <a:prstGeom prst="rect">
            <a:avLst/>
          </a:prstGeom>
          <a:noFill/>
        </p:spPr>
        <p:txBody>
          <a:bodyPr wrap="none" tIns="0" bIns="0" lIns="0" rIns="0">
            <a:spAutoFit/>
          </a:bodyPr>
          <a:lstStyle/>
          <a:p>
            <a:pPr>
              <a:defRPr sz="900">
                <a:solidFill>
                  <a:srgbClr val="64748B"/>
                </a:solidFill>
                <a:latin typeface="Arial"/>
              </a:defRPr>
            </a:pPr>
            <a:r>
              <a:t>S. B. Jain Institute of Technology, Management &amp; Research, Nagpur | Department of Emerging Technologies CSE (AI&amp;ML)</a:t>
            </a:r>
          </a:p>
        </p:txBody>
      </p:sp>
      <p:sp>
        <p:nvSpPr>
          <p:cNvPr id="5" name="TextBox 4"/>
          <p:cNvSpPr txBox="1"/>
          <p:nvPr/>
        </p:nvSpPr>
        <p:spPr>
          <a:xfrm>
            <a:off x="731520" y="1463040"/>
            <a:ext cx="10698480" cy="4754880"/>
          </a:xfrm>
          <a:prstGeom prst="rect">
            <a:avLst/>
          </a:prstGeom>
          <a:noFill/>
        </p:spPr>
        <p:txBody>
          <a:bodyPr wrap="square">
            <a:spAutoFit/>
          </a:bodyPr>
          <a:lstStyle/>
          <a:p>
            <a:pPr>
              <a:defRPr b="1" sz="1400">
                <a:solidFill>
                  <a:srgbClr val="0F172A"/>
                </a:solidFill>
              </a:defRPr>
            </a:pPr>
            <a:r>
              <a:t>Conclusion:</a:t>
            </a:r>
          </a:p>
          <a:p>
            <a:pPr>
              <a:spcAft>
                <a:spcPts val="800"/>
              </a:spcAft>
              <a:defRPr sz="1200">
                <a:solidFill>
                  <a:srgbClr val="1E293B"/>
                </a:solidFill>
              </a:defRPr>
            </a:pPr>
            <a:r>
              <a:t>The Exact Character Count DFA project successfully bridges theoretical automata mathematics and modern engineering. It delivers an interactive, mathematically rigorous laboratory for validating and visualizing strings with exactly 3m 'a's and 2n 'b's.</a:t>
            </a:r>
          </a:p>
          <a:p>
            <a:pPr>
              <a:defRPr b="1" sz="1300">
                <a:solidFill>
                  <a:srgbClr val="4F46E5"/>
                </a:solidFill>
              </a:defRPr>
            </a:pPr>
            <a:r>
              <a:t>Key Takeaways:</a:t>
            </a:r>
          </a:p>
          <a:p>
            <a:pPr>
              <a:spcAft>
                <a:spcPts val="400"/>
              </a:spcAft>
              <a:defRPr sz="1150">
                <a:solidFill>
                  <a:srgbClr val="1E293B"/>
                </a:solidFill>
              </a:defRPr>
            </a:pPr>
            <a:r>
              <a:t>1. Cartesian Product Automaton: Combining a modulo-3 counter (3 states) and a modulo-2 counter (2 states) yields an irreducible 6-state DFA.</a:t>
            </a:r>
          </a:p>
          <a:p>
            <a:pPr>
              <a:spcAft>
                <a:spcPts val="400"/>
              </a:spcAft>
              <a:defRPr sz="1150">
                <a:solidFill>
                  <a:srgbClr val="1E293B"/>
                </a:solidFill>
              </a:defRPr>
            </a:pPr>
            <a:r>
              <a:t>2. State Minimality Proven: Demonstrated via Myhill-Nerode Theorem that all 6 states are pairwise distinguishable, making 6 the absolute mathematical minimum.</a:t>
            </a:r>
          </a:p>
          <a:p>
            <a:pPr>
              <a:spcAft>
                <a:spcPts val="400"/>
              </a:spcAft>
              <a:defRPr sz="1150">
                <a:solidFill>
                  <a:srgbClr val="1E293B"/>
                </a:solidFill>
              </a:defRPr>
            </a:pPr>
            <a:r>
              <a:t>3. Empty String &amp; Permutation Invariance: Verified that w = ε is valid for m=0, n=0, and modular commutativity guarantees identical acceptance regardless of character order.</a:t>
            </a:r>
          </a:p>
          <a:p>
            <a:pPr>
              <a:spcAft>
                <a:spcPts val="400"/>
              </a:spcAft>
              <a:defRPr sz="1150">
                <a:solidFill>
                  <a:srgbClr val="1E293B"/>
                </a:solidFill>
              </a:defRPr>
            </a:pPr>
            <a:r>
              <a:t>4. Interactive Visual Laboratory: Implemented real-time tape animation, Instantaneous Descriptions (IDs), live transition table highlighting, and 24+ automated test cases.</a:t>
            </a:r>
          </a:p>
          <a:p>
            <a:pPr>
              <a:spcAft>
                <a:spcPts val="400"/>
              </a:spcAft>
              <a:defRPr sz="1150">
                <a:solidFill>
                  <a:srgbClr val="1E293B"/>
                </a:solidFill>
              </a:defRPr>
            </a:pPr>
            <a:r>
              <a:t>5. Cross-Platform &amp; Offline Ready: Packaged as an installable Progressive Web App (PWA) operating 100% offline on Android mobile and Windows desktop.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822960"/>
          </a:xfrm>
          <a:prstGeom prst="rect">
            <a:avLst/>
          </a:prstGeom>
          <a:noFill/>
        </p:spPr>
        <p:txBody>
          <a:bodyPr wrap="square" tIns="0" bIns="0" lIns="0" rIns="0">
            <a:spAutoFit/>
          </a:bodyPr>
          <a:lstStyle/>
          <a:p>
            <a:pPr>
              <a:defRPr sz="2200" b="1">
                <a:solidFill>
                  <a:srgbClr val="0F172A"/>
                </a:solidFill>
                <a:latin typeface="Arial"/>
              </a:defRPr>
            </a:pPr>
            <a:r>
              <a:t>9. References &amp; Project Artifacts</a:t>
            </a:r>
          </a:p>
        </p:txBody>
      </p:sp>
      <p:sp>
        <p:nvSpPr>
          <p:cNvPr id="3" name="Rectangle 2"/>
          <p:cNvSpPr/>
          <p:nvPr/>
        </p:nvSpPr>
        <p:spPr>
          <a:xfrm>
            <a:off x="731520" y="1188720"/>
            <a:ext cx="10698480" cy="36576"/>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0"/>
            <a:ext cx="10698480" cy="365760"/>
          </a:xfrm>
          <a:prstGeom prst="rect">
            <a:avLst/>
          </a:prstGeom>
          <a:noFill/>
        </p:spPr>
        <p:txBody>
          <a:bodyPr wrap="none" tIns="0" bIns="0" lIns="0" rIns="0">
            <a:spAutoFit/>
          </a:bodyPr>
          <a:lstStyle/>
          <a:p>
            <a:pPr>
              <a:defRPr sz="900">
                <a:solidFill>
                  <a:srgbClr val="64748B"/>
                </a:solidFill>
                <a:latin typeface="Arial"/>
              </a:defRPr>
            </a:pPr>
            <a:r>
              <a:t>S. B. Jain Institute of Technology, Management &amp; Research, Nagpur | Department of Emerging Technologies CSE (AI&amp;ML)</a:t>
            </a:r>
          </a:p>
        </p:txBody>
      </p:sp>
      <p:sp>
        <p:nvSpPr>
          <p:cNvPr id="5" name="TextBox 4"/>
          <p:cNvSpPr txBox="1"/>
          <p:nvPr/>
        </p:nvSpPr>
        <p:spPr>
          <a:xfrm>
            <a:off x="731520" y="1371600"/>
            <a:ext cx="10698480" cy="4846320"/>
          </a:xfrm>
          <a:prstGeom prst="rect">
            <a:avLst/>
          </a:prstGeom>
          <a:noFill/>
        </p:spPr>
        <p:txBody>
          <a:bodyPr wrap="square">
            <a:spAutoFit/>
          </a:bodyPr>
          <a:lstStyle/>
          <a:p>
            <a:pPr>
              <a:defRPr b="1" sz="1400">
                <a:solidFill>
                  <a:srgbClr val="4F46E5"/>
                </a:solidFill>
              </a:defRPr>
            </a:pPr>
            <a:r>
              <a:t>Project Artifacts &amp; Live Deployments:</a:t>
            </a:r>
          </a:p>
          <a:p>
            <a:pPr>
              <a:spcAft>
                <a:spcPts val="300"/>
              </a:spcAft>
              <a:defRPr sz="1150">
                <a:solidFill>
                  <a:srgbClr val="1E293B"/>
                </a:solidFill>
              </a:defRPr>
            </a:pPr>
            <a:r>
              <a:t>• Live Web Application (Vercel):  https://toc-dfa-character-count-.vercel.app</a:t>
            </a:r>
          </a:p>
          <a:p>
            <a:pPr>
              <a:spcAft>
                <a:spcPts val="300"/>
              </a:spcAft>
              <a:defRPr sz="1150">
                <a:solidFill>
                  <a:srgbClr val="1E293B"/>
                </a:solidFill>
              </a:defRPr>
            </a:pPr>
            <a:r>
              <a:t>• GitHub Source Repository:  https://github.com/shivam61999/toc-dfa-character-count-</a:t>
            </a:r>
          </a:p>
          <a:p>
            <a:pPr>
              <a:spcAft>
                <a:spcPts val="300"/>
              </a:spcAft>
              <a:defRPr sz="1150">
                <a:solidFill>
                  <a:srgbClr val="1E293B"/>
                </a:solidFill>
              </a:defRPr>
            </a:pPr>
            <a:r>
              <a:t>• Windows Desktop App:  TOC DFA Standalone Window (Offline PWA)</a:t>
            </a:r>
          </a:p>
          <a:p>
            <a:pPr>
              <a:spcAft>
                <a:spcPts val="300"/>
              </a:spcAft>
              <a:defRPr sz="1150">
                <a:solidFill>
                  <a:srgbClr val="1E293B"/>
                </a:solidFill>
              </a:defRPr>
            </a:pPr>
            <a:r>
              <a:t>• Android Mobile App:  TOC DFA Mobile Home-Screen App (Offline PWA)</a:t>
            </a:r>
          </a:p>
          <a:p>
            <a:pPr>
              <a:spcAft>
                <a:spcPts val="300"/>
              </a:spcAft>
              <a:defRPr sz="1150">
                <a:solidFill>
                  <a:srgbClr val="1E293B"/>
                </a:solidFill>
              </a:defRPr>
            </a:pPr>
            <a:r>
              <a:t>• Academic Dossier &amp; Prompt Lifecycle:  TOC_DFA_Prompt_Engineering_Lifecycle.xlsx</a:t>
            </a:r>
          </a:p>
          <a:p>
            <a:pPr>
              <a:spcBef>
                <a:spcPts val="800"/>
              </a:spcBef>
              <a:defRPr b="1" sz="1300">
                <a:solidFill>
                  <a:srgbClr val="0F172A"/>
                </a:solidFill>
              </a:defRPr>
            </a:pPr>
            <a:r>
              <a:t>Academic &amp; Theoretical References:</a:t>
            </a:r>
          </a:p>
          <a:p>
            <a:pPr>
              <a:spcAft>
                <a:spcPts val="200"/>
              </a:spcAft>
              <a:defRPr sz="1100">
                <a:solidFill>
                  <a:srgbClr val="1E293B"/>
                </a:solidFill>
              </a:defRPr>
            </a:pPr>
            <a:r>
              <a:t>• Michael Sipser, Introduction to the Theory of Computation, 3rd Edition, Cengage Learning.</a:t>
            </a:r>
          </a:p>
          <a:p>
            <a:pPr>
              <a:spcAft>
                <a:spcPts val="200"/>
              </a:spcAft>
              <a:defRPr sz="1100">
                <a:solidFill>
                  <a:srgbClr val="1E293B"/>
                </a:solidFill>
              </a:defRPr>
            </a:pPr>
            <a:r>
              <a:t>• John E. Hopcroft, Rajeev Motwani &amp; Jeffrey D. Ullman, Introduction to Automata Theory, Languages, and Computation, 3rd Edition, Pearson.</a:t>
            </a:r>
          </a:p>
          <a:p>
            <a:pPr>
              <a:spcAft>
                <a:spcPts val="200"/>
              </a:spcAft>
              <a:defRPr sz="1100">
                <a:solidFill>
                  <a:srgbClr val="1E293B"/>
                </a:solidFill>
              </a:defRPr>
            </a:pPr>
            <a:r>
              <a:t>• Peter Linz, An Introduction to Formal Languages and Automata, 6th Edition, Jones &amp; Bartlett Learning.</a:t>
            </a:r>
          </a:p>
          <a:p>
            <a:pPr>
              <a:spcAft>
                <a:spcPts val="200"/>
              </a:spcAft>
              <a:defRPr sz="1100">
                <a:solidFill>
                  <a:srgbClr val="1E293B"/>
                </a:solidFill>
              </a:defRPr>
            </a:pPr>
            <a:r>
              <a:t>• John C. Martin, Introduction to Languages and the Theory of Computation, McGraw-Hill.</a:t>
            </a:r>
          </a:p>
          <a:p>
            <a:pPr>
              <a:spcAft>
                <a:spcPts val="200"/>
              </a:spcAft>
              <a:defRPr sz="1100">
                <a:solidFill>
                  <a:srgbClr val="1E293B"/>
                </a:solidFill>
              </a:defRPr>
            </a:pPr>
            <a:r>
              <a:t>• Alfred V. Aho, Monica S. Lam, Ravi Sethi &amp; Jeffrey D. Ullman, Compilers: Principles, Techniques, and Tools (Dragon Book), Pearson.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